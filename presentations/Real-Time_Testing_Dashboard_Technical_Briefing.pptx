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411475" y="1353558"/>
            <a:ext cx="6216849" cy="1616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72000"/>
              </a:lnSpc>
              <a:defRPr b="1" spc="-4" sz="6200"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REAL-TIME</a:t>
            </a:r>
          </a:p>
          <a:p>
            <a:pPr>
              <a:lnSpc>
                <a:spcPct val="72000"/>
              </a:lnSpc>
              <a:defRPr b="1" spc="-4" sz="6200"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TESTING DASHBOARD</a:t>
            </a:r>
          </a:p>
        </p:txBody>
      </p:sp>
      <p:sp>
        <p:nvSpPr>
          <p:cNvPr id="21" name="Shape 1"/>
          <p:cNvSpPr/>
          <p:nvPr/>
        </p:nvSpPr>
        <p:spPr>
          <a:xfrm>
            <a:off x="428625" y="3128963"/>
            <a:ext cx="5715000" cy="55364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428625" y="3128963"/>
            <a:ext cx="57150" cy="553642"/>
          </a:xfrm>
          <a:prstGeom prst="rect">
            <a:avLst/>
          </a:prstGeom>
          <a:solidFill>
            <a:srgbClr val="EAB30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598678" y="3128963"/>
            <a:ext cx="5544947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Live QA observability for CI execution, trends, and Playwright reports</a:t>
            </a:r>
          </a:p>
        </p:txBody>
      </p:sp>
      <p:sp>
        <p:nvSpPr>
          <p:cNvPr id="24" name="Shape 4"/>
          <p:cNvSpPr/>
          <p:nvPr/>
        </p:nvSpPr>
        <p:spPr>
          <a:xfrm>
            <a:off x="5761121" y="3115878"/>
            <a:ext cx="3047138" cy="1643603"/>
          </a:xfrm>
          <a:prstGeom prst="rect">
            <a:avLst/>
          </a:prstGeom>
          <a:solidFill>
            <a:srgbClr val="000000">
              <a:alpha val="0"/>
            </a:srgbClr>
          </a:solidFill>
          <a:ln w="73152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5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4545" y="3068337"/>
            <a:ext cx="3120290" cy="18721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29;p1" descr="Google Shape;129;p1"/>
          <p:cNvPicPr>
            <a:picLocks noChangeAspect="1"/>
          </p:cNvPicPr>
          <p:nvPr/>
        </p:nvPicPr>
        <p:blipFill>
          <a:blip r:embed="rId3">
            <a:extLst/>
          </a:blip>
          <a:srcRect l="10597" t="30070" r="8156" b="43047"/>
          <a:stretch>
            <a:fillRect/>
          </a:stretch>
        </p:blipFill>
        <p:spPr>
          <a:xfrm>
            <a:off x="317511" y="207601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Google Shape;130;p1"/>
          <p:cNvSpPr/>
          <p:nvPr/>
        </p:nvSpPr>
        <p:spPr>
          <a:xfrm>
            <a:off x="48706" y="5062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0" name="Google Shape;131;p1"/>
          <p:cNvGrpSpPr/>
          <p:nvPr/>
        </p:nvGrpSpPr>
        <p:grpSpPr>
          <a:xfrm>
            <a:off x="7452106" y="372876"/>
            <a:ext cx="1592200" cy="253754"/>
            <a:chOff x="0" y="0"/>
            <a:chExt cx="1592199" cy="253752"/>
          </a:xfrm>
        </p:grpSpPr>
        <p:sp>
          <p:nvSpPr>
            <p:cNvPr id="28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9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31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ext 0"/>
          <p:cNvSpPr txBox="1"/>
          <p:nvPr/>
        </p:nvSpPr>
        <p:spPr>
          <a:xfrm>
            <a:off x="-71438" y="340233"/>
            <a:ext cx="8114970" cy="109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6" sz="7200">
                <a:solidFill>
                  <a:srgbClr val="2563EB">
                    <a:alpha val="10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AGENDA AGENDA</a:t>
            </a:r>
          </a:p>
        </p:txBody>
      </p:sp>
      <p:sp>
        <p:nvSpPr>
          <p:cNvPr id="35" name="Text 1"/>
          <p:cNvSpPr txBox="1"/>
          <p:nvPr/>
        </p:nvSpPr>
        <p:spPr>
          <a:xfrm>
            <a:off x="428625" y="571500"/>
            <a:ext cx="828675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3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STRATEGIC AGENDA</a:t>
            </a:r>
          </a:p>
        </p:txBody>
      </p:sp>
      <p:sp>
        <p:nvSpPr>
          <p:cNvPr id="36" name="Text 2"/>
          <p:cNvSpPr txBox="1"/>
          <p:nvPr/>
        </p:nvSpPr>
        <p:spPr>
          <a:xfrm>
            <a:off x="428625" y="1507330"/>
            <a:ext cx="262890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7" name="Text 3"/>
          <p:cNvSpPr txBox="1"/>
          <p:nvPr/>
        </p:nvSpPr>
        <p:spPr>
          <a:xfrm>
            <a:off x="585788" y="1980605"/>
            <a:ext cx="167890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Executive overview &amp; business value</a:t>
            </a:r>
          </a:p>
        </p:txBody>
      </p:sp>
      <p:sp>
        <p:nvSpPr>
          <p:cNvPr id="38" name="Text 4"/>
          <p:cNvSpPr txBox="1"/>
          <p:nvPr/>
        </p:nvSpPr>
        <p:spPr>
          <a:xfrm>
            <a:off x="585787" y="2272046"/>
            <a:ext cx="148654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Architecture &amp; data flow</a:t>
            </a:r>
          </a:p>
        </p:txBody>
      </p:sp>
      <p:sp>
        <p:nvSpPr>
          <p:cNvPr id="39" name="Text 5"/>
          <p:cNvSpPr txBox="1"/>
          <p:nvPr/>
        </p:nvSpPr>
        <p:spPr>
          <a:xfrm>
            <a:off x="3257550" y="1507330"/>
            <a:ext cx="262890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0" name="Text 6"/>
          <p:cNvSpPr txBox="1"/>
          <p:nvPr/>
        </p:nvSpPr>
        <p:spPr>
          <a:xfrm>
            <a:off x="3414712" y="1980605"/>
            <a:ext cx="146987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Dashboard KPIs &amp; live feed</a:t>
            </a:r>
          </a:p>
        </p:txBody>
      </p:sp>
      <p:sp>
        <p:nvSpPr>
          <p:cNvPr id="41" name="Text 7"/>
          <p:cNvSpPr txBox="1"/>
          <p:nvPr/>
        </p:nvSpPr>
        <p:spPr>
          <a:xfrm>
            <a:off x="3414712" y="2272046"/>
            <a:ext cx="17150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GitHub Actions ingest</a:t>
            </a:r>
          </a:p>
        </p:txBody>
      </p:sp>
      <p:sp>
        <p:nvSpPr>
          <p:cNvPr id="42" name="Text 8"/>
          <p:cNvSpPr txBox="1"/>
          <p:nvPr/>
        </p:nvSpPr>
        <p:spPr>
          <a:xfrm>
            <a:off x="3414712" y="2563490"/>
            <a:ext cx="173189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Embedded HTML reports</a:t>
            </a:r>
          </a:p>
        </p:txBody>
      </p:sp>
      <p:sp>
        <p:nvSpPr>
          <p:cNvPr id="43" name="Text 9"/>
          <p:cNvSpPr txBox="1"/>
          <p:nvPr/>
        </p:nvSpPr>
        <p:spPr>
          <a:xfrm>
            <a:off x="6086475" y="1507330"/>
            <a:ext cx="262890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Text 10"/>
          <p:cNvSpPr txBox="1"/>
          <p:nvPr/>
        </p:nvSpPr>
        <p:spPr>
          <a:xfrm>
            <a:off x="6243637" y="1980605"/>
            <a:ext cx="11900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CI pipeline control &amp; deployment</a:t>
            </a:r>
          </a:p>
        </p:txBody>
      </p:sp>
      <p:sp>
        <p:nvSpPr>
          <p:cNvPr id="45" name="Text 11"/>
          <p:cNvSpPr txBox="1"/>
          <p:nvPr/>
        </p:nvSpPr>
        <p:spPr>
          <a:xfrm>
            <a:off x="6243637" y="2272046"/>
            <a:ext cx="169006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Governance &amp; roadmap</a:t>
            </a:r>
          </a:p>
        </p:txBody>
      </p:sp>
      <p:pic>
        <p:nvPicPr>
          <p:cNvPr id="46" name="Google Shape;129;p1" descr="Google Shape;129;p1"/>
          <p:cNvPicPr>
            <a:picLocks noChangeAspect="1"/>
          </p:cNvPicPr>
          <p:nvPr/>
        </p:nvPicPr>
        <p:blipFill>
          <a:blip r:embed="rId3">
            <a:extLst/>
          </a:blip>
          <a:srcRect l="10597" t="30070" r="8156" b="43047"/>
          <a:stretch>
            <a:fillRect/>
          </a:stretch>
        </p:blipFill>
        <p:spPr>
          <a:xfrm>
            <a:off x="430976" y="100809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Google Shape;130;p1"/>
          <p:cNvSpPr/>
          <p:nvPr/>
        </p:nvSpPr>
        <p:spPr>
          <a:xfrm>
            <a:off x="48706" y="5062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50" name="Google Shape;131;p1"/>
          <p:cNvGrpSpPr/>
          <p:nvPr/>
        </p:nvGrpSpPr>
        <p:grpSpPr>
          <a:xfrm>
            <a:off x="7452106" y="372876"/>
            <a:ext cx="1592200" cy="253754"/>
            <a:chOff x="0" y="0"/>
            <a:chExt cx="1592199" cy="253752"/>
          </a:xfrm>
        </p:grpSpPr>
        <p:sp>
          <p:nvSpPr>
            <p:cNvPr id="48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49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51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ext 0"/>
          <p:cNvSpPr txBox="1"/>
          <p:nvPr/>
        </p:nvSpPr>
        <p:spPr>
          <a:xfrm>
            <a:off x="303609" y="-85725"/>
            <a:ext cx="8599809" cy="787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4" sz="5200">
                <a:solidFill>
                  <a:srgbClr val="EAB308">
                    <a:alpha val="15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TECH STACK TECH STACK</a:t>
            </a:r>
          </a:p>
        </p:txBody>
      </p:sp>
      <p:sp>
        <p:nvSpPr>
          <p:cNvPr id="55" name="Text 1"/>
          <p:cNvSpPr txBox="1"/>
          <p:nvPr/>
        </p:nvSpPr>
        <p:spPr>
          <a:xfrm>
            <a:off x="285750" y="428625"/>
            <a:ext cx="85725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MODERN ECOSYSTEM</a:t>
            </a:r>
          </a:p>
        </p:txBody>
      </p:sp>
      <p:sp>
        <p:nvSpPr>
          <p:cNvPr id="56" name="Shape 2"/>
          <p:cNvSpPr/>
          <p:nvPr/>
        </p:nvSpPr>
        <p:spPr>
          <a:xfrm>
            <a:off x="285749" y="1223366"/>
            <a:ext cx="3360410" cy="2628901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3"/>
          <p:cNvSpPr/>
          <p:nvPr/>
        </p:nvSpPr>
        <p:spPr>
          <a:xfrm>
            <a:off x="285749" y="1223366"/>
            <a:ext cx="3360410" cy="310754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4"/>
          <p:cNvSpPr txBox="1"/>
          <p:nvPr/>
        </p:nvSpPr>
        <p:spPr>
          <a:xfrm>
            <a:off x="285749" y="1213135"/>
            <a:ext cx="3360410" cy="331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2107" tIns="102107" rIns="102107" bIns="102107" anchor="ctr">
            <a:spAutoFit/>
          </a:bodyPr>
          <a:lstStyle>
            <a:lvl1pPr>
              <a:defRPr b="1" sz="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PLATFORM COMPONENTS</a:t>
            </a:r>
          </a:p>
        </p:txBody>
      </p:sp>
      <p:sp>
        <p:nvSpPr>
          <p:cNvPr id="59" name="Text 5"/>
          <p:cNvSpPr txBox="1"/>
          <p:nvPr/>
        </p:nvSpPr>
        <p:spPr>
          <a:xfrm>
            <a:off x="371475" y="1619845"/>
            <a:ext cx="27311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60" name="Text 6"/>
          <p:cNvSpPr txBox="1"/>
          <p:nvPr/>
        </p:nvSpPr>
        <p:spPr>
          <a:xfrm>
            <a:off x="1294804" y="1529147"/>
            <a:ext cx="2351355" cy="343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2107" tIns="102107" rIns="102107" bIns="102107" anchor="ctr">
            <a:spAutoFit/>
          </a:bodyPr>
          <a:lstStyle>
            <a:lvl1pPr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FastAPI, SQLAlchemy, Alembic, Uvicorn</a:t>
            </a:r>
          </a:p>
        </p:txBody>
      </p:sp>
      <p:sp>
        <p:nvSpPr>
          <p:cNvPr id="61" name="Text 7"/>
          <p:cNvSpPr txBox="1"/>
          <p:nvPr/>
        </p:nvSpPr>
        <p:spPr>
          <a:xfrm>
            <a:off x="371475" y="1960958"/>
            <a:ext cx="5525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62" name="Text 8"/>
          <p:cNvSpPr txBox="1"/>
          <p:nvPr/>
        </p:nvSpPr>
        <p:spPr>
          <a:xfrm>
            <a:off x="1294804" y="1866690"/>
            <a:ext cx="2351355" cy="343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2107" tIns="102107" rIns="102107" bIns="102107" anchor="ctr">
            <a:spAutoFit/>
          </a:bodyPr>
          <a:lstStyle>
            <a:lvl1pPr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React, TypeScript, Vite</a:t>
            </a:r>
          </a:p>
        </p:txBody>
      </p:sp>
      <p:sp>
        <p:nvSpPr>
          <p:cNvPr id="63" name="Text 9"/>
          <p:cNvSpPr txBox="1"/>
          <p:nvPr/>
        </p:nvSpPr>
        <p:spPr>
          <a:xfrm>
            <a:off x="371475" y="2302073"/>
            <a:ext cx="3238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64" name="Text 10"/>
          <p:cNvSpPr txBox="1"/>
          <p:nvPr/>
        </p:nvSpPr>
        <p:spPr>
          <a:xfrm>
            <a:off x="1294804" y="2207804"/>
            <a:ext cx="2351355" cy="343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2107" tIns="102107" rIns="102107" bIns="102107" anchor="ctr">
            <a:spAutoFit/>
          </a:bodyPr>
          <a:lstStyle>
            <a:lvl1pPr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PostgreSQL (Render), SQLite (local)</a:t>
            </a:r>
          </a:p>
        </p:txBody>
      </p:sp>
      <p:sp>
        <p:nvSpPr>
          <p:cNvPr id="65" name="Text 11"/>
          <p:cNvSpPr txBox="1"/>
          <p:nvPr/>
        </p:nvSpPr>
        <p:spPr>
          <a:xfrm>
            <a:off x="371475" y="2643188"/>
            <a:ext cx="55238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Hosting</a:t>
            </a:r>
          </a:p>
        </p:txBody>
      </p:sp>
      <p:sp>
        <p:nvSpPr>
          <p:cNvPr id="66" name="Text 12"/>
          <p:cNvSpPr txBox="1"/>
          <p:nvPr/>
        </p:nvSpPr>
        <p:spPr>
          <a:xfrm>
            <a:off x="1294804" y="2548917"/>
            <a:ext cx="2351355" cy="343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2107" tIns="102107" rIns="102107" bIns="102107" anchor="ctr">
            <a:spAutoFit/>
          </a:bodyPr>
          <a:lstStyle>
            <a:lvl1pPr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Vercel (UI) + Render (API + DB)</a:t>
            </a:r>
          </a:p>
        </p:txBody>
      </p:sp>
      <p:sp>
        <p:nvSpPr>
          <p:cNvPr id="67" name="Shape 13"/>
          <p:cNvSpPr/>
          <p:nvPr/>
        </p:nvSpPr>
        <p:spPr>
          <a:xfrm>
            <a:off x="3817608" y="1223366"/>
            <a:ext cx="5097792" cy="2628901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6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17608" y="1223366"/>
            <a:ext cx="5040642" cy="2571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Google Shape;129;p1" descr="Google Shape;129;p1"/>
          <p:cNvPicPr>
            <a:picLocks noChangeAspect="1"/>
          </p:cNvPicPr>
          <p:nvPr/>
        </p:nvPicPr>
        <p:blipFill>
          <a:blip r:embed="rId4">
            <a:extLst/>
          </a:blip>
          <a:srcRect l="10597" t="30070" r="8156" b="43047"/>
          <a:stretch>
            <a:fillRect/>
          </a:stretch>
        </p:blipFill>
        <p:spPr>
          <a:xfrm>
            <a:off x="317511" y="67437"/>
            <a:ext cx="1087818" cy="253754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 0"/>
          <p:cNvSpPr txBox="1"/>
          <p:nvPr/>
        </p:nvSpPr>
        <p:spPr>
          <a:xfrm>
            <a:off x="-142875" y="-71437"/>
            <a:ext cx="9286875" cy="1416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64000"/>
              </a:lnSpc>
              <a:defRPr b="1" spc="-5" sz="5700">
                <a:solidFill>
                  <a:srgbClr val="2563EB">
                    <a:alpha val="10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ARCHITECTURE ARCHITECTURE</a:t>
            </a:r>
          </a:p>
        </p:txBody>
      </p:sp>
      <p:sp>
        <p:nvSpPr>
          <p:cNvPr id="74" name="Text 1"/>
          <p:cNvSpPr txBox="1"/>
          <p:nvPr/>
        </p:nvSpPr>
        <p:spPr>
          <a:xfrm>
            <a:off x="428625" y="428625"/>
            <a:ext cx="828675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SYSTEM DESIGN</a:t>
            </a:r>
          </a:p>
        </p:txBody>
      </p:sp>
      <p:pic>
        <p:nvPicPr>
          <p:cNvPr id="75" name="SelfHealingArchitecture.png" descr="SelfHealingArchitectur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9433" y="1562445"/>
            <a:ext cx="4384613" cy="2192308"/>
          </a:xfrm>
          <a:prstGeom prst="rect">
            <a:avLst/>
          </a:prstGeom>
          <a:ln w="27432">
            <a:solidFill>
              <a:srgbClr val="000000"/>
            </a:solidFill>
          </a:ln>
        </p:spPr>
      </p:pic>
      <p:sp>
        <p:nvSpPr>
          <p:cNvPr id="76" name="Text 3"/>
          <p:cNvSpPr txBox="1"/>
          <p:nvPr/>
        </p:nvSpPr>
        <p:spPr>
          <a:xfrm>
            <a:off x="5357812" y="1223366"/>
            <a:ext cx="33575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LAYERED COMPONENTS</a:t>
            </a:r>
          </a:p>
        </p:txBody>
      </p:sp>
      <p:sp>
        <p:nvSpPr>
          <p:cNvPr id="77" name="Text 4"/>
          <p:cNvSpPr txBox="1"/>
          <p:nvPr/>
        </p:nvSpPr>
        <p:spPr>
          <a:xfrm>
            <a:off x="5529262" y="1500187"/>
            <a:ext cx="226811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UI presents KPIs, trends, live feed, and embedded</a:t>
            </a:r>
          </a:p>
        </p:txBody>
      </p:sp>
      <p:sp>
        <p:nvSpPr>
          <p:cNvPr id="78" name="Text 5"/>
          <p:cNvSpPr txBox="1"/>
          <p:nvPr/>
        </p:nvSpPr>
        <p:spPr>
          <a:xfrm>
            <a:off x="5357812" y="1680204"/>
            <a:ext cx="4319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HTML reports.</a:t>
            </a:r>
          </a:p>
        </p:txBody>
      </p:sp>
      <p:sp>
        <p:nvSpPr>
          <p:cNvPr id="79" name="Text 6"/>
          <p:cNvSpPr txBox="1"/>
          <p:nvPr/>
        </p:nvSpPr>
        <p:spPr>
          <a:xfrm>
            <a:off x="5357812" y="2294930"/>
            <a:ext cx="33575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API LAYER</a:t>
            </a:r>
          </a:p>
        </p:txBody>
      </p:sp>
      <p:sp>
        <p:nvSpPr>
          <p:cNvPr id="80" name="Text 7"/>
          <p:cNvSpPr txBox="1"/>
          <p:nvPr/>
        </p:nvSpPr>
        <p:spPr>
          <a:xfrm>
            <a:off x="5529262" y="2571750"/>
            <a:ext cx="221085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REST ingest, summary, reports, optional WebSocket,</a:t>
            </a:r>
          </a:p>
        </p:txBody>
      </p:sp>
      <p:sp>
        <p:nvSpPr>
          <p:cNvPr id="81" name="Text 8"/>
          <p:cNvSpPr txBox="1"/>
          <p:nvPr/>
        </p:nvSpPr>
        <p:spPr>
          <a:xfrm>
            <a:off x="5357812" y="2751766"/>
            <a:ext cx="46794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and GitHub CI trigger.</a:t>
            </a:r>
          </a:p>
        </p:txBody>
      </p:sp>
      <p:sp>
        <p:nvSpPr>
          <p:cNvPr id="82" name="Text 9"/>
          <p:cNvSpPr txBox="1"/>
          <p:nvPr/>
        </p:nvSpPr>
        <p:spPr>
          <a:xfrm>
            <a:off x="5357812" y="3366492"/>
            <a:ext cx="335756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PERSISTENCE</a:t>
            </a:r>
          </a:p>
        </p:txBody>
      </p:sp>
      <p:sp>
        <p:nvSpPr>
          <p:cNvPr id="83" name="Text 10"/>
          <p:cNvSpPr txBox="1"/>
          <p:nvPr/>
        </p:nvSpPr>
        <p:spPr>
          <a:xfrm>
            <a:off x="5529262" y="3643312"/>
            <a:ext cx="25396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Postgres stores runs, cases, and optional Playwright</a:t>
            </a:r>
          </a:p>
        </p:txBody>
      </p:sp>
      <p:sp>
        <p:nvSpPr>
          <p:cNvPr id="84" name="Text 11"/>
          <p:cNvSpPr txBox="1"/>
          <p:nvPr/>
        </p:nvSpPr>
        <p:spPr>
          <a:xfrm>
            <a:off x="5357812" y="3823329"/>
            <a:ext cx="54005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report ZIPs.</a:t>
            </a:r>
          </a:p>
        </p:txBody>
      </p:sp>
      <p:pic>
        <p:nvPicPr>
          <p:cNvPr id="85" name="Google Shape;129;p1" descr="Google Shape;129;p1"/>
          <p:cNvPicPr>
            <a:picLocks noChangeAspect="1"/>
          </p:cNvPicPr>
          <p:nvPr/>
        </p:nvPicPr>
        <p:blipFill>
          <a:blip r:embed="rId4">
            <a:extLst/>
          </a:blip>
          <a:srcRect l="10597" t="30070" r="8156" b="43047"/>
          <a:stretch>
            <a:fillRect/>
          </a:stretch>
        </p:blipFill>
        <p:spPr>
          <a:xfrm>
            <a:off x="464349" y="87460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Google Shape;130;p1"/>
          <p:cNvSpPr/>
          <p:nvPr/>
        </p:nvSpPr>
        <p:spPr>
          <a:xfrm>
            <a:off x="48706" y="3919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89" name="Google Shape;131;p1"/>
          <p:cNvGrpSpPr/>
          <p:nvPr/>
        </p:nvGrpSpPr>
        <p:grpSpPr>
          <a:xfrm>
            <a:off x="7452106" y="258576"/>
            <a:ext cx="1592200" cy="253754"/>
            <a:chOff x="0" y="0"/>
            <a:chExt cx="1592199" cy="253752"/>
          </a:xfrm>
        </p:grpSpPr>
        <p:sp>
          <p:nvSpPr>
            <p:cNvPr id="87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88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90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 0"/>
          <p:cNvSpPr txBox="1"/>
          <p:nvPr/>
        </p:nvSpPr>
        <p:spPr>
          <a:xfrm>
            <a:off x="-142876" y="-285750"/>
            <a:ext cx="8842507" cy="208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8" sz="8300">
                <a:solidFill>
                  <a:srgbClr val="2563EB">
                    <a:alpha val="8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PROCESS FLOW PROCESS</a:t>
            </a:r>
          </a:p>
        </p:txBody>
      </p:sp>
      <p:sp>
        <p:nvSpPr>
          <p:cNvPr id="94" name="Text 1"/>
          <p:cNvSpPr txBox="1"/>
          <p:nvPr/>
        </p:nvSpPr>
        <p:spPr>
          <a:xfrm>
            <a:off x="428625" y="428625"/>
            <a:ext cx="828675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-2" sz="33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END-TO-END PIPELINE</a:t>
            </a:r>
          </a:p>
        </p:txBody>
      </p:sp>
      <p:sp>
        <p:nvSpPr>
          <p:cNvPr id="95" name="Text 2"/>
          <p:cNvSpPr txBox="1"/>
          <p:nvPr/>
        </p:nvSpPr>
        <p:spPr>
          <a:xfrm>
            <a:off x="428625" y="1293019"/>
            <a:ext cx="238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6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96" name="Text 3"/>
          <p:cNvSpPr txBox="1"/>
          <p:nvPr/>
        </p:nvSpPr>
        <p:spPr>
          <a:xfrm>
            <a:off x="857249" y="1293019"/>
            <a:ext cx="96739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TRIGGER</a:t>
            </a:r>
          </a:p>
        </p:txBody>
      </p:sp>
      <p:sp>
        <p:nvSpPr>
          <p:cNvPr id="97" name="Text 4"/>
          <p:cNvSpPr txBox="1"/>
          <p:nvPr/>
        </p:nvSpPr>
        <p:spPr>
          <a:xfrm>
            <a:off x="857249" y="1512326"/>
            <a:ext cx="4106056" cy="29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pPr>
            <a:r>
              <a:t>Start from dashboard (workflow_dispatch) or </a:t>
            </a:r>
          </a:p>
          <a:p>
            <a: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pPr>
            <a:r>
              <a:t>push to GitHub.</a:t>
            </a:r>
          </a:p>
        </p:txBody>
      </p:sp>
      <p:sp>
        <p:nvSpPr>
          <p:cNvPr id="98" name="Text 5"/>
          <p:cNvSpPr txBox="1"/>
          <p:nvPr/>
        </p:nvSpPr>
        <p:spPr>
          <a:xfrm>
            <a:off x="428625" y="2132408"/>
            <a:ext cx="238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6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99" name="Text 6"/>
          <p:cNvSpPr txBox="1"/>
          <p:nvPr/>
        </p:nvSpPr>
        <p:spPr>
          <a:xfrm>
            <a:off x="864394" y="2132408"/>
            <a:ext cx="123221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CI EXECUTION</a:t>
            </a:r>
          </a:p>
        </p:txBody>
      </p:sp>
      <p:sp>
        <p:nvSpPr>
          <p:cNvPr id="100" name="Text 7"/>
          <p:cNvSpPr txBox="1"/>
          <p:nvPr/>
        </p:nvSpPr>
        <p:spPr>
          <a:xfrm>
            <a:off x="864394" y="2351716"/>
            <a:ext cx="1988506" cy="29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pPr>
            <a:r>
              <a:t>Playwright suite runs on GitHub Actions; jobs </a:t>
            </a:r>
          </a:p>
          <a:p>
            <a: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pPr>
            <a:r>
              <a:t>and steps visible in UI.</a:t>
            </a:r>
          </a:p>
        </p:txBody>
      </p:sp>
      <p:sp>
        <p:nvSpPr>
          <p:cNvPr id="101" name="Text 8"/>
          <p:cNvSpPr txBox="1"/>
          <p:nvPr/>
        </p:nvSpPr>
        <p:spPr>
          <a:xfrm>
            <a:off x="428625" y="2971799"/>
            <a:ext cx="238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6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02" name="Text 9"/>
          <p:cNvSpPr txBox="1"/>
          <p:nvPr/>
        </p:nvSpPr>
        <p:spPr>
          <a:xfrm>
            <a:off x="864394" y="2971799"/>
            <a:ext cx="12425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INGEST</a:t>
            </a:r>
          </a:p>
        </p:txBody>
      </p:sp>
      <p:sp>
        <p:nvSpPr>
          <p:cNvPr id="103" name="Text 10"/>
          <p:cNvSpPr txBox="1"/>
          <p:nvPr/>
        </p:nvSpPr>
        <p:spPr>
          <a:xfrm>
            <a:off x="864394" y="3191107"/>
            <a:ext cx="2204771" cy="29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pPr>
            <a:r>
              <a:t>Workflow POSTs JSON results and optional </a:t>
            </a:r>
          </a:p>
          <a:p>
            <a: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pPr>
            <a:r>
              <a:t>report_zip to the API.</a:t>
            </a:r>
          </a:p>
        </p:txBody>
      </p:sp>
      <p:sp>
        <p:nvSpPr>
          <p:cNvPr id="104" name="Text 11"/>
          <p:cNvSpPr txBox="1"/>
          <p:nvPr/>
        </p:nvSpPr>
        <p:spPr>
          <a:xfrm>
            <a:off x="428625" y="3811191"/>
            <a:ext cx="238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6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05" name="Text 12"/>
          <p:cNvSpPr txBox="1"/>
          <p:nvPr/>
        </p:nvSpPr>
        <p:spPr>
          <a:xfrm>
            <a:off x="889396" y="3811191"/>
            <a:ext cx="125521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OBSERVE</a:t>
            </a:r>
          </a:p>
        </p:txBody>
      </p:sp>
      <p:sp>
        <p:nvSpPr>
          <p:cNvPr id="106" name="Text 13"/>
          <p:cNvSpPr txBox="1"/>
          <p:nvPr/>
        </p:nvSpPr>
        <p:spPr>
          <a:xfrm>
            <a:off x="889396" y="4030498"/>
            <a:ext cx="2325211" cy="29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pPr>
            <a:r>
              <a:t>Dashboard updates KPIs, trends, feed, and </a:t>
            </a:r>
          </a:p>
          <a:p>
            <a: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pPr>
            <a:r>
              <a:t>embedded HTML viewer.</a:t>
            </a:r>
          </a:p>
        </p:txBody>
      </p:sp>
      <p:pic>
        <p:nvPicPr>
          <p:cNvPr id="107" name="Screenshot 2026-05-22 at 6.34.21 PM.png" descr="Screenshot 2026-05-22 at 6.34.21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72831" y="1150972"/>
            <a:ext cx="3545237" cy="32640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Google Shape;129;p1" descr="Google Shape;129;p1"/>
          <p:cNvPicPr>
            <a:picLocks noChangeAspect="1"/>
          </p:cNvPicPr>
          <p:nvPr/>
        </p:nvPicPr>
        <p:blipFill>
          <a:blip r:embed="rId4">
            <a:extLst/>
          </a:blip>
          <a:srcRect l="10597" t="30070" r="8156" b="43047"/>
          <a:stretch>
            <a:fillRect/>
          </a:stretch>
        </p:blipFill>
        <p:spPr>
          <a:xfrm>
            <a:off x="471023" y="95412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Google Shape;130;p1"/>
          <p:cNvSpPr/>
          <p:nvPr/>
        </p:nvSpPr>
        <p:spPr>
          <a:xfrm>
            <a:off x="48706" y="4173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2" name="Google Shape;131;p1"/>
          <p:cNvGrpSpPr/>
          <p:nvPr/>
        </p:nvGrpSpPr>
        <p:grpSpPr>
          <a:xfrm>
            <a:off x="7452106" y="283976"/>
            <a:ext cx="1592200" cy="253754"/>
            <a:chOff x="0" y="0"/>
            <a:chExt cx="1592199" cy="253752"/>
          </a:xfrm>
        </p:grpSpPr>
        <p:sp>
          <p:nvSpPr>
            <p:cNvPr id="110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11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113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 0"/>
          <p:cNvSpPr txBox="1"/>
          <p:nvPr/>
        </p:nvSpPr>
        <p:spPr>
          <a:xfrm>
            <a:off x="-142876" y="-285750"/>
            <a:ext cx="8835966" cy="2332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8" sz="9300">
                <a:solidFill>
                  <a:srgbClr val="2563EB">
                    <a:alpha val="10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DASHBOARD DASHBOARD DASHBOARD</a:t>
            </a:r>
          </a:p>
        </p:txBody>
      </p:sp>
      <p:sp>
        <p:nvSpPr>
          <p:cNvPr id="117" name="Text 1"/>
          <p:cNvSpPr txBox="1"/>
          <p:nvPr/>
        </p:nvSpPr>
        <p:spPr>
          <a:xfrm>
            <a:off x="571499" y="571500"/>
            <a:ext cx="6488927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3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LIVE KPI SURFACE</a:t>
            </a:r>
          </a:p>
        </p:txBody>
      </p:sp>
      <p:sp>
        <p:nvSpPr>
          <p:cNvPr id="118" name="Shape 2"/>
          <p:cNvSpPr/>
          <p:nvPr/>
        </p:nvSpPr>
        <p:spPr>
          <a:xfrm>
            <a:off x="7203299" y="898327"/>
            <a:ext cx="1369201" cy="46077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3"/>
          <p:cNvSpPr txBox="1"/>
          <p:nvPr/>
        </p:nvSpPr>
        <p:spPr>
          <a:xfrm>
            <a:off x="7271244" y="898327"/>
            <a:ext cx="1233311" cy="288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072" tIns="68072" rIns="68072" bIns="68072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EXECUTIVE VISIBILITY</a:t>
            </a:r>
          </a:p>
        </p:txBody>
      </p:sp>
      <p:sp>
        <p:nvSpPr>
          <p:cNvPr id="120" name="Text 4"/>
          <p:cNvSpPr txBox="1"/>
          <p:nvPr/>
        </p:nvSpPr>
        <p:spPr>
          <a:xfrm>
            <a:off x="571499" y="2064543"/>
            <a:ext cx="252411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SINGLE PANE OF GLASS</a:t>
            </a:r>
          </a:p>
        </p:txBody>
      </p:sp>
      <p:sp>
        <p:nvSpPr>
          <p:cNvPr id="121" name="Text 5"/>
          <p:cNvSpPr txBox="1"/>
          <p:nvPr/>
        </p:nvSpPr>
        <p:spPr>
          <a:xfrm>
            <a:off x="803672" y="2577108"/>
            <a:ext cx="155022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Totals for runs, cases, pass rate, and open</a:t>
            </a:r>
          </a:p>
        </p:txBody>
      </p:sp>
      <p:sp>
        <p:nvSpPr>
          <p:cNvPr id="122" name="Text 6"/>
          <p:cNvSpPr txBox="1"/>
          <p:nvPr/>
        </p:nvSpPr>
        <p:spPr>
          <a:xfrm>
            <a:off x="571500" y="2757124"/>
            <a:ext cx="189351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defects in one view.</a:t>
            </a:r>
          </a:p>
        </p:txBody>
      </p:sp>
      <p:sp>
        <p:nvSpPr>
          <p:cNvPr id="123" name="Text 7"/>
          <p:cNvSpPr txBox="1"/>
          <p:nvPr/>
        </p:nvSpPr>
        <p:spPr>
          <a:xfrm>
            <a:off x="571500" y="2937142"/>
            <a:ext cx="73064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Trends refresh as new CI runs are ingested.</a:t>
            </a:r>
          </a:p>
        </p:txBody>
      </p:sp>
      <p:sp>
        <p:nvSpPr>
          <p:cNvPr id="124" name="Text 8"/>
          <p:cNvSpPr txBox="1"/>
          <p:nvPr/>
        </p:nvSpPr>
        <p:spPr>
          <a:xfrm>
            <a:off x="803671" y="3410051"/>
            <a:ext cx="15119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Portfolio roll-ups without opening GitHub Actions.</a:t>
            </a:r>
          </a:p>
        </p:txBody>
      </p:sp>
      <p:sp>
        <p:nvSpPr>
          <p:cNvPr id="125" name="Text 9"/>
          <p:cNvSpPr txBox="1"/>
          <p:nvPr/>
        </p:nvSpPr>
        <p:spPr>
          <a:xfrm>
            <a:off x="571499" y="3590068"/>
            <a:ext cx="19183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NO LOG ARCHAEOLOGY</a:t>
            </a:r>
          </a:p>
        </p:txBody>
      </p:sp>
      <p:sp>
        <p:nvSpPr>
          <p:cNvPr id="126" name="Text 10"/>
          <p:cNvSpPr txBox="1"/>
          <p:nvPr/>
        </p:nvSpPr>
        <p:spPr>
          <a:xfrm>
            <a:off x="571500" y="3770086"/>
            <a:ext cx="8769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Leadership and QA stop chasing artifacts across</a:t>
            </a:r>
          </a:p>
        </p:txBody>
      </p:sp>
      <p:sp>
        <p:nvSpPr>
          <p:cNvPr id="127" name="Text 11"/>
          <p:cNvSpPr txBox="1"/>
          <p:nvPr/>
        </p:nvSpPr>
        <p:spPr>
          <a:xfrm>
            <a:off x="3309927" y="2064543"/>
            <a:ext cx="25241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CI tabs and storage buckets.</a:t>
            </a:r>
          </a:p>
        </p:txBody>
      </p:sp>
      <p:sp>
        <p:nvSpPr>
          <p:cNvPr id="128" name="Text 12"/>
          <p:cNvSpPr txBox="1"/>
          <p:nvPr/>
        </p:nvSpPr>
        <p:spPr>
          <a:xfrm>
            <a:off x="3542100" y="2577108"/>
            <a:ext cx="14535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ALWAYS CURRENT</a:t>
            </a:r>
          </a:p>
        </p:txBody>
      </p:sp>
      <p:sp>
        <p:nvSpPr>
          <p:cNvPr id="129" name="Text 13"/>
          <p:cNvSpPr txBox="1"/>
          <p:nvPr/>
        </p:nvSpPr>
        <p:spPr>
          <a:xfrm>
            <a:off x="3309927" y="2757124"/>
            <a:ext cx="203326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Latest CI runs surface first when</a:t>
            </a:r>
          </a:p>
        </p:txBody>
      </p:sp>
      <p:sp>
        <p:nvSpPr>
          <p:cNvPr id="130" name="Text 14"/>
          <p:cNvSpPr txBox="1"/>
          <p:nvPr/>
        </p:nvSpPr>
        <p:spPr>
          <a:xfrm>
            <a:off x="3309927" y="2937142"/>
            <a:ext cx="73081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DATA_SOURCE=github.</a:t>
            </a:r>
          </a:p>
        </p:txBody>
      </p:sp>
      <p:sp>
        <p:nvSpPr>
          <p:cNvPr id="131" name="Text 15"/>
          <p:cNvSpPr txBox="1"/>
          <p:nvPr/>
        </p:nvSpPr>
        <p:spPr>
          <a:xfrm>
            <a:off x="3542100" y="3410051"/>
            <a:ext cx="171525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DEMO READY</a:t>
            </a:r>
          </a:p>
        </p:txBody>
      </p:sp>
      <p:sp>
        <p:nvSpPr>
          <p:cNvPr id="132" name="Text 16"/>
          <p:cNvSpPr txBox="1"/>
          <p:nvPr/>
        </p:nvSpPr>
        <p:spPr>
          <a:xfrm>
            <a:off x="3309927" y="3590068"/>
            <a:ext cx="172195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Synthetic runs available in demo mode for</a:t>
            </a:r>
          </a:p>
        </p:txBody>
      </p:sp>
      <p:sp>
        <p:nvSpPr>
          <p:cNvPr id="133" name="Text 17"/>
          <p:cNvSpPr txBox="1"/>
          <p:nvPr/>
        </p:nvSpPr>
        <p:spPr>
          <a:xfrm>
            <a:off x="3309927" y="3770086"/>
            <a:ext cx="66713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stakeholder walkthroughs.</a:t>
            </a:r>
          </a:p>
        </p:txBody>
      </p:sp>
      <p:sp>
        <p:nvSpPr>
          <p:cNvPr id="134" name="Text 18"/>
          <p:cNvSpPr txBox="1"/>
          <p:nvPr/>
        </p:nvSpPr>
        <p:spPr>
          <a:xfrm>
            <a:off x="6048356" y="2064543"/>
            <a:ext cx="252414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KPI EXAMPLES</a:t>
            </a:r>
          </a:p>
        </p:txBody>
      </p:sp>
      <p:sp>
        <p:nvSpPr>
          <p:cNvPr id="135" name="Shape 19"/>
          <p:cNvSpPr/>
          <p:nvPr/>
        </p:nvSpPr>
        <p:spPr>
          <a:xfrm>
            <a:off x="6048356" y="2559248"/>
            <a:ext cx="2524145" cy="60186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20"/>
          <p:cNvSpPr txBox="1"/>
          <p:nvPr/>
        </p:nvSpPr>
        <p:spPr>
          <a:xfrm>
            <a:off x="6048356" y="2559248"/>
            <a:ext cx="2524145" cy="665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5143" tIns="255143" rIns="255143" bIns="255143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Total Runs · Pass Rate · Module quality</a:t>
            </a:r>
            <a:r>
              <a:rPr>
                <a:solidFill>
                  <a:srgbClr val="EAB308"/>
                </a:solidFill>
              </a:rPr>
              <a:t/>
            </a:r>
            <a:r>
              <a:t/>
            </a:r>
            <a:r>
              <a:rPr>
                <a:solidFill>
                  <a:srgbClr val="EAB308"/>
                </a:solidFill>
              </a:rPr>
              <a:t/>
            </a:r>
            <a:r>
              <a:t/>
            </a:r>
          </a:p>
        </p:txBody>
      </p:sp>
      <p:sp>
        <p:nvSpPr>
          <p:cNvPr id="137" name="Text 21"/>
          <p:cNvSpPr txBox="1"/>
          <p:nvPr/>
        </p:nvSpPr>
        <p:spPr>
          <a:xfrm>
            <a:off x="6280527" y="3393280"/>
            <a:ext cx="52091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Example:</a:t>
            </a:r>
          </a:p>
        </p:txBody>
      </p:sp>
      <p:sp>
        <p:nvSpPr>
          <p:cNvPr id="138" name="Text 22"/>
          <p:cNvSpPr txBox="1"/>
          <p:nvPr/>
        </p:nvSpPr>
        <p:spPr>
          <a:xfrm>
            <a:off x="6065044" y="3674335"/>
            <a:ext cx="2490768" cy="298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https://realtime-testing-dashboard-ooka.vercel.app</a:t>
            </a:r>
          </a:p>
        </p:txBody>
      </p:sp>
      <p:pic>
        <p:nvPicPr>
          <p:cNvPr id="139" name="Google Shape;129;p1" descr="Google Shape;129;p1"/>
          <p:cNvPicPr>
            <a:picLocks noChangeAspect="1"/>
          </p:cNvPicPr>
          <p:nvPr/>
        </p:nvPicPr>
        <p:blipFill>
          <a:blip r:embed="rId3">
            <a:extLst/>
          </a:blip>
          <a:srcRect l="10597" t="30070" r="8156" b="43047"/>
          <a:stretch>
            <a:fillRect/>
          </a:stretch>
        </p:blipFill>
        <p:spPr>
          <a:xfrm>
            <a:off x="597838" y="167554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Google Shape;130;p1"/>
          <p:cNvSpPr/>
          <p:nvPr/>
        </p:nvSpPr>
        <p:spPr>
          <a:xfrm>
            <a:off x="48706" y="5062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3" name="Google Shape;131;p1"/>
          <p:cNvGrpSpPr/>
          <p:nvPr/>
        </p:nvGrpSpPr>
        <p:grpSpPr>
          <a:xfrm>
            <a:off x="7452106" y="372876"/>
            <a:ext cx="1592200" cy="253754"/>
            <a:chOff x="0" y="0"/>
            <a:chExt cx="1592199" cy="253752"/>
          </a:xfrm>
        </p:grpSpPr>
        <p:sp>
          <p:nvSpPr>
            <p:cNvPr id="141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42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144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 0"/>
          <p:cNvSpPr txBox="1"/>
          <p:nvPr/>
        </p:nvSpPr>
        <p:spPr>
          <a:xfrm>
            <a:off x="-142876" y="-285750"/>
            <a:ext cx="7401856" cy="208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8" sz="8300">
                <a:solidFill>
                  <a:srgbClr val="2563EB">
                    <a:alpha val="5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INGEST INGEST</a:t>
            </a:r>
          </a:p>
        </p:txBody>
      </p:sp>
      <p:sp>
        <p:nvSpPr>
          <p:cNvPr id="148" name="Text 1"/>
          <p:cNvSpPr txBox="1"/>
          <p:nvPr/>
        </p:nvSpPr>
        <p:spPr>
          <a:xfrm>
            <a:off x="428625" y="428625"/>
            <a:ext cx="828675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-2" sz="33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GITHUB ACTIONS PUBLISH</a:t>
            </a:r>
          </a:p>
        </p:txBody>
      </p:sp>
      <p:sp>
        <p:nvSpPr>
          <p:cNvPr id="149" name="Shape 2"/>
          <p:cNvSpPr/>
          <p:nvPr/>
        </p:nvSpPr>
        <p:spPr>
          <a:xfrm>
            <a:off x="428624" y="1057274"/>
            <a:ext cx="2216350" cy="27146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3"/>
          <p:cNvSpPr txBox="1"/>
          <p:nvPr/>
        </p:nvSpPr>
        <p:spPr>
          <a:xfrm>
            <a:off x="496569" y="1057274"/>
            <a:ext cx="2080460" cy="275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072" tIns="68072" rIns="68072" bIns="68072">
            <a:spAutoFit/>
          </a:bodyPr>
          <a:lstStyle>
            <a:lvl1pPr>
              <a:defRPr b="1" sz="9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SECURE CI PATH (PURPLE)</a:t>
            </a:r>
          </a:p>
        </p:txBody>
      </p:sp>
      <p:sp>
        <p:nvSpPr>
          <p:cNvPr id="151" name="Text 4"/>
          <p:cNvSpPr txBox="1"/>
          <p:nvPr/>
        </p:nvSpPr>
        <p:spPr>
          <a:xfrm>
            <a:off x="428625" y="1778793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STRUCTURED PAYLOAD</a:t>
            </a:r>
          </a:p>
        </p:txBody>
      </p:sp>
      <p:sp>
        <p:nvSpPr>
          <p:cNvPr id="152" name="Text 5"/>
          <p:cNvSpPr txBox="1"/>
          <p:nvPr/>
        </p:nvSpPr>
        <p:spPr>
          <a:xfrm>
            <a:off x="585788" y="2112764"/>
            <a:ext cx="168205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suite_name, environment, build_version,</a:t>
            </a:r>
          </a:p>
        </p:txBody>
      </p:sp>
      <p:sp>
        <p:nvSpPr>
          <p:cNvPr id="153" name="Text 6"/>
          <p:cNvSpPr txBox="1"/>
          <p:nvPr/>
        </p:nvSpPr>
        <p:spPr>
          <a:xfrm>
            <a:off x="428624" y="2305644"/>
            <a:ext cx="205709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test_cases[] from Playwright JSON.</a:t>
            </a:r>
          </a:p>
        </p:txBody>
      </p:sp>
      <p:sp>
        <p:nvSpPr>
          <p:cNvPr id="154" name="Text 7"/>
          <p:cNvSpPr txBox="1"/>
          <p:nvPr/>
        </p:nvSpPr>
        <p:spPr>
          <a:xfrm>
            <a:off x="428625" y="2498526"/>
            <a:ext cx="47431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HTML REPORT ZIP</a:t>
            </a:r>
          </a:p>
        </p:txBody>
      </p:sp>
      <p:sp>
        <p:nvSpPr>
          <p:cNvPr id="155" name="Text 9"/>
          <p:cNvSpPr txBox="1"/>
          <p:nvPr/>
        </p:nvSpPr>
        <p:spPr>
          <a:xfrm>
            <a:off x="3286125" y="1778793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Zip playwright-report/ and POST multipart</a:t>
            </a:r>
          </a:p>
        </p:txBody>
      </p:sp>
      <p:sp>
        <p:nvSpPr>
          <p:cNvPr id="156" name="Text 10"/>
          <p:cNvSpPr txBox="1"/>
          <p:nvPr/>
        </p:nvSpPr>
        <p:spPr>
          <a:xfrm>
            <a:off x="3443287" y="2112764"/>
            <a:ext cx="18340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run-with-report.</a:t>
            </a:r>
          </a:p>
        </p:txBody>
      </p:sp>
      <p:sp>
        <p:nvSpPr>
          <p:cNvPr id="157" name="Text 11"/>
          <p:cNvSpPr txBox="1"/>
          <p:nvPr/>
        </p:nvSpPr>
        <p:spPr>
          <a:xfrm>
            <a:off x="3286124" y="2305644"/>
            <a:ext cx="19825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SERVER-ONLY SECRET</a:t>
            </a:r>
          </a:p>
        </p:txBody>
      </p:sp>
      <p:sp>
        <p:nvSpPr>
          <p:cNvPr id="158" name="Text 12"/>
          <p:cNvSpPr txBox="1"/>
          <p:nvPr/>
        </p:nvSpPr>
        <p:spPr>
          <a:xfrm>
            <a:off x="3286125" y="2498526"/>
            <a:ext cx="6287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GITHUB_ACTIONS_INGEST_TOKEN never exposed to</a:t>
            </a:r>
          </a:p>
        </p:txBody>
      </p:sp>
      <p:sp>
        <p:nvSpPr>
          <p:cNvPr id="159" name="Text 13"/>
          <p:cNvSpPr txBox="1"/>
          <p:nvPr/>
        </p:nvSpPr>
        <p:spPr>
          <a:xfrm>
            <a:off x="3286125" y="2816423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the browser.</a:t>
            </a:r>
          </a:p>
        </p:txBody>
      </p:sp>
      <p:sp>
        <p:nvSpPr>
          <p:cNvPr id="160" name="Text 14"/>
          <p:cNvSpPr txBox="1"/>
          <p:nvPr/>
        </p:nvSpPr>
        <p:spPr>
          <a:xfrm>
            <a:off x="3443287" y="3150393"/>
            <a:ext cx="158187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AUTOMATIC REFRESH</a:t>
            </a:r>
          </a:p>
        </p:txBody>
      </p:sp>
      <p:sp>
        <p:nvSpPr>
          <p:cNvPr id="161" name="Text 15"/>
          <p:cNvSpPr txBox="1"/>
          <p:nvPr/>
        </p:nvSpPr>
        <p:spPr>
          <a:xfrm>
            <a:off x="3286124" y="3343275"/>
            <a:ext cx="80649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Summary and live feed update after</a:t>
            </a:r>
          </a:p>
        </p:txBody>
      </p:sp>
      <p:sp>
        <p:nvSpPr>
          <p:cNvPr id="162" name="Text 16"/>
          <p:cNvSpPr txBox="1"/>
          <p:nvPr/>
        </p:nvSpPr>
        <p:spPr>
          <a:xfrm>
            <a:off x="4207669" y="3343275"/>
            <a:ext cx="13534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successful ingest.</a:t>
            </a:r>
          </a:p>
        </p:txBody>
      </p:sp>
      <p:sp>
        <p:nvSpPr>
          <p:cNvPr id="163" name="Text 17"/>
          <p:cNvSpPr txBox="1"/>
          <p:nvPr/>
        </p:nvSpPr>
        <p:spPr>
          <a:xfrm>
            <a:off x="3286125" y="3536155"/>
            <a:ext cx="5019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ENDPOINTS</a:t>
            </a:r>
          </a:p>
        </p:txBody>
      </p:sp>
      <p:sp>
        <p:nvSpPr>
          <p:cNvPr id="164" name="Text 18"/>
          <p:cNvSpPr txBox="1"/>
          <p:nvPr/>
        </p:nvSpPr>
        <p:spPr>
          <a:xfrm>
            <a:off x="6143625" y="1778793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POST /api/ingest/github-actions/run</a:t>
            </a:r>
          </a:p>
        </p:txBody>
      </p:sp>
      <p:sp>
        <p:nvSpPr>
          <p:cNvPr id="165" name="Text 19"/>
          <p:cNvSpPr txBox="1"/>
          <p:nvPr/>
        </p:nvSpPr>
        <p:spPr>
          <a:xfrm>
            <a:off x="6300787" y="2112764"/>
            <a:ext cx="188704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POST /api/ingest/github-actions/run-with-report</a:t>
            </a:r>
          </a:p>
        </p:txBody>
      </p:sp>
      <p:sp>
        <p:nvSpPr>
          <p:cNvPr id="166" name="Text 20"/>
          <p:cNvSpPr txBox="1"/>
          <p:nvPr/>
        </p:nvSpPr>
        <p:spPr>
          <a:xfrm>
            <a:off x="6143624" y="2305644"/>
            <a:ext cx="190601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Triggers: After every CI run for the dashboard.</a:t>
            </a:r>
          </a:p>
        </p:txBody>
      </p:sp>
      <p:sp>
        <p:nvSpPr>
          <p:cNvPr id="167" name="Text 21"/>
          <p:cNvSpPr txBox="1"/>
          <p:nvPr/>
        </p:nvSpPr>
        <p:spPr>
          <a:xfrm>
            <a:off x="6143625" y="2498526"/>
            <a:ext cx="77306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Efficiency: Non-blocking POST from workflow.</a:t>
            </a:r>
          </a:p>
        </p:txBody>
      </p:sp>
      <p:sp>
        <p:nvSpPr>
          <p:cNvPr id="168" name="Text 22"/>
          <p:cNvSpPr txBox="1"/>
          <p:nvPr/>
        </p:nvSpPr>
        <p:spPr>
          <a:xfrm>
            <a:off x="6143625" y="2980730"/>
            <a:ext cx="2571750" cy="474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b="1" sz="9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Accuracy: Same JSON schema as Playwright output.</a:t>
            </a:r>
            <a:r>
              <a:rPr b="0">
                <a:latin typeface="Inter"/>
                <a:ea typeface="Inter"/>
                <a:cs typeface="Inter"/>
                <a:sym typeface="Inter"/>
              </a:rPr>
              <a:t/>
            </a:r>
            <a:endParaRPr b="0"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ct val="120000"/>
              </a:lnSpc>
              <a:defRPr b="1" sz="9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Repo: mmohansqaai/SelfHealingPlaywrightFramework</a:t>
            </a:r>
            <a:r>
              <a:rPr b="0">
                <a:latin typeface="Inter"/>
                <a:ea typeface="Inter"/>
                <a:cs typeface="Inter"/>
                <a:sym typeface="Inter"/>
              </a:rPr>
              <a:t/>
            </a:r>
            <a:endParaRPr b="0">
              <a:latin typeface="Inter"/>
              <a:ea typeface="Inter"/>
              <a:cs typeface="Inter"/>
              <a:sym typeface="Inter"/>
            </a:endParaRPr>
          </a:p>
          <a:p>
            <a:pPr>
              <a:lnSpc>
                <a:spcPct val="120000"/>
              </a:lnSpc>
              <a:defRPr b="1" sz="9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pPr>
            <a:r>
              <a:t>Pair with examples/github-actions-publish-step.yml</a:t>
            </a:r>
            <a:r>
              <a:rPr b="0">
                <a:latin typeface="Inter"/>
                <a:ea typeface="Inter"/>
                <a:cs typeface="Inter"/>
                <a:sym typeface="Inter"/>
              </a:rPr>
              <a:t/>
            </a:r>
          </a:p>
        </p:txBody>
      </p:sp>
      <p:pic>
        <p:nvPicPr>
          <p:cNvPr id="169" name="Screenshot 2026-05-22 at 7.46.09 PM.png" descr="Screenshot 2026-05-22 at 7.46.0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3086" y="3168749"/>
            <a:ext cx="2702828" cy="13832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Google Shape;129;p1" descr="Google Shape;129;p1"/>
          <p:cNvPicPr>
            <a:picLocks noChangeAspect="1"/>
          </p:cNvPicPr>
          <p:nvPr/>
        </p:nvPicPr>
        <p:blipFill>
          <a:blip r:embed="rId4">
            <a:extLst/>
          </a:blip>
          <a:srcRect l="10597" t="30070" r="8156" b="43047"/>
          <a:stretch>
            <a:fillRect/>
          </a:stretch>
        </p:blipFill>
        <p:spPr>
          <a:xfrm>
            <a:off x="471023" y="54371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Google Shape;130;p1"/>
          <p:cNvSpPr/>
          <p:nvPr/>
        </p:nvSpPr>
        <p:spPr>
          <a:xfrm>
            <a:off x="48706" y="3665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4" name="Google Shape;131;p1"/>
          <p:cNvGrpSpPr/>
          <p:nvPr/>
        </p:nvGrpSpPr>
        <p:grpSpPr>
          <a:xfrm>
            <a:off x="7452106" y="233176"/>
            <a:ext cx="1592200" cy="253754"/>
            <a:chOff x="0" y="0"/>
            <a:chExt cx="1592199" cy="253752"/>
          </a:xfrm>
        </p:grpSpPr>
        <p:sp>
          <p:nvSpPr>
            <p:cNvPr id="172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73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175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/>
        </p:nvSpPr>
        <p:spPr>
          <a:xfrm>
            <a:off x="-142876" y="-71437"/>
            <a:ext cx="7378425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4" sz="5200">
                <a:solidFill>
                  <a:srgbClr val="2563EB">
                    <a:alpha val="10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HTML REPORT HTML REPORT</a:t>
            </a:r>
          </a:p>
        </p:txBody>
      </p:sp>
      <p:sp>
        <p:nvSpPr>
          <p:cNvPr id="178" name="Shape 1"/>
          <p:cNvSpPr/>
          <p:nvPr/>
        </p:nvSpPr>
        <p:spPr>
          <a:xfrm>
            <a:off x="428624" y="428624"/>
            <a:ext cx="1637707" cy="271465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2"/>
          <p:cNvSpPr txBox="1"/>
          <p:nvPr/>
        </p:nvSpPr>
        <p:spPr>
          <a:xfrm>
            <a:off x="496569" y="428624"/>
            <a:ext cx="1501817" cy="275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072" tIns="68072" rIns="68072" bIns="68072">
            <a:spAutoFit/>
          </a:bodyPr>
          <a:lstStyle>
            <a:lvl1pPr>
              <a:defRPr b="1" sz="9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EMBEDDED VIEWER</a:t>
            </a:r>
          </a:p>
        </p:txBody>
      </p:sp>
      <p:sp>
        <p:nvSpPr>
          <p:cNvPr id="180" name="Text 3"/>
          <p:cNvSpPr txBox="1"/>
          <p:nvPr/>
        </p:nvSpPr>
        <p:spPr>
          <a:xfrm>
            <a:off x="428625" y="842962"/>
            <a:ext cx="828675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IN-DASHBOARD PLAYWRIGHT REPORTS</a:t>
            </a:r>
          </a:p>
        </p:txBody>
      </p:sp>
      <p:sp>
        <p:nvSpPr>
          <p:cNvPr id="181" name="Text 4"/>
          <p:cNvSpPr txBox="1"/>
          <p:nvPr/>
        </p:nvSpPr>
        <p:spPr>
          <a:xfrm>
            <a:off x="428625" y="1780580"/>
            <a:ext cx="3929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ZIP Storage</a:t>
            </a:r>
          </a:p>
        </p:txBody>
      </p:sp>
      <p:sp>
        <p:nvSpPr>
          <p:cNvPr id="182" name="Text 5"/>
          <p:cNvSpPr txBox="1"/>
          <p:nvPr/>
        </p:nvSpPr>
        <p:spPr>
          <a:xfrm>
            <a:off x="428625" y="2046683"/>
            <a:ext cx="3929063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API stores report ZIP and serves /api/runs/{id}/report/... so teams browse without a public artifact URL.</a:t>
            </a:r>
          </a:p>
        </p:txBody>
      </p:sp>
      <p:sp>
        <p:nvSpPr>
          <p:cNvPr id="183" name="Text 6"/>
          <p:cNvSpPr txBox="1"/>
          <p:nvPr/>
        </p:nvSpPr>
        <p:spPr>
          <a:xfrm>
            <a:off x="428625" y="2768202"/>
            <a:ext cx="3929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Inline View</a:t>
            </a:r>
          </a:p>
        </p:txBody>
      </p:sp>
      <p:sp>
        <p:nvSpPr>
          <p:cNvPr id="184" name="Text 7"/>
          <p:cNvSpPr txBox="1"/>
          <p:nvPr/>
        </p:nvSpPr>
        <p:spPr>
          <a:xfrm>
            <a:off x="428625" y="3034308"/>
            <a:ext cx="3929063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Managers and leads open the dashboard; engineers can still open full Playwright HTML for forensics.</a:t>
            </a:r>
          </a:p>
        </p:txBody>
      </p:sp>
      <p:sp>
        <p:nvSpPr>
          <p:cNvPr id="185" name="Text 8"/>
          <p:cNvSpPr txBox="1"/>
          <p:nvPr/>
        </p:nvSpPr>
        <p:spPr>
          <a:xfrm>
            <a:off x="428625" y="3755826"/>
            <a:ext cx="392906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Theme Alignment</a:t>
            </a:r>
          </a:p>
        </p:txBody>
      </p:sp>
      <p:sp>
        <p:nvSpPr>
          <p:cNvPr id="186" name="Text 9"/>
          <p:cNvSpPr txBox="1"/>
          <p:nvPr/>
        </p:nvSpPr>
        <p:spPr>
          <a:xfrm>
            <a:off x="428625" y="4021930"/>
            <a:ext cx="3929063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Report shell styled to match dashboard dark theme when served from the API.</a:t>
            </a:r>
          </a:p>
        </p:txBody>
      </p:sp>
      <p:pic>
        <p:nvPicPr>
          <p:cNvPr id="187" name="Screenshot 2026-05-22 at 7.46.53 PM.png" descr="Screenshot 2026-05-22 at 7.46.5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30207" y="1784248"/>
            <a:ext cx="4241275" cy="2142204"/>
          </a:xfrm>
          <a:prstGeom prst="rect">
            <a:avLst/>
          </a:prstGeom>
          <a:ln w="27432">
            <a:solidFill>
              <a:srgbClr val="000000"/>
            </a:solidFill>
          </a:ln>
        </p:spPr>
      </p:pic>
      <p:pic>
        <p:nvPicPr>
          <p:cNvPr id="188" name="Google Shape;129;p1" descr="Google Shape;129;p1"/>
          <p:cNvPicPr>
            <a:picLocks noChangeAspect="1"/>
          </p:cNvPicPr>
          <p:nvPr/>
        </p:nvPicPr>
        <p:blipFill>
          <a:blip r:embed="rId3">
            <a:extLst/>
          </a:blip>
          <a:srcRect l="10597" t="30070" r="8156" b="43047"/>
          <a:stretch>
            <a:fillRect/>
          </a:stretch>
        </p:blipFill>
        <p:spPr>
          <a:xfrm>
            <a:off x="430976" y="83542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Google Shape;130;p1"/>
          <p:cNvSpPr/>
          <p:nvPr/>
        </p:nvSpPr>
        <p:spPr>
          <a:xfrm>
            <a:off x="48706" y="3792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2" name="Google Shape;131;p1"/>
          <p:cNvGrpSpPr/>
          <p:nvPr/>
        </p:nvGrpSpPr>
        <p:grpSpPr>
          <a:xfrm>
            <a:off x="7452106" y="245876"/>
            <a:ext cx="1592200" cy="253754"/>
            <a:chOff x="0" y="0"/>
            <a:chExt cx="1592199" cy="253752"/>
          </a:xfrm>
        </p:grpSpPr>
        <p:sp>
          <p:nvSpPr>
            <p:cNvPr id="190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91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193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Text 0"/>
          <p:cNvSpPr txBox="1"/>
          <p:nvPr/>
        </p:nvSpPr>
        <p:spPr>
          <a:xfrm>
            <a:off x="-142876" y="-142875"/>
            <a:ext cx="7909718" cy="179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6" sz="7200">
                <a:solidFill>
                  <a:srgbClr val="2563EB">
                    <a:alpha val="8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CONFIGURATION CONFIGURATION</a:t>
            </a:r>
          </a:p>
        </p:txBody>
      </p:sp>
      <p:sp>
        <p:nvSpPr>
          <p:cNvPr id="197" name="Text 1"/>
          <p:cNvSpPr txBox="1"/>
          <p:nvPr/>
        </p:nvSpPr>
        <p:spPr>
          <a:xfrm>
            <a:off x="428625" y="428625"/>
            <a:ext cx="828675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OPERATING MODES</a:t>
            </a:r>
          </a:p>
        </p:txBody>
      </p:sp>
      <p:sp>
        <p:nvSpPr>
          <p:cNvPr id="198" name="Text 2"/>
          <p:cNvSpPr txBox="1"/>
          <p:nvPr/>
        </p:nvSpPr>
        <p:spPr>
          <a:xfrm>
            <a:off x="428625" y="1294804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RUNTIME ORDER</a:t>
            </a:r>
          </a:p>
        </p:txBody>
      </p:sp>
      <p:sp>
        <p:nvSpPr>
          <p:cNvPr id="199" name="Shape 3"/>
          <p:cNvSpPr/>
          <p:nvPr/>
        </p:nvSpPr>
        <p:spPr>
          <a:xfrm>
            <a:off x="428625" y="1610916"/>
            <a:ext cx="2571750" cy="50006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4"/>
          <p:cNvSpPr txBox="1"/>
          <p:nvPr/>
        </p:nvSpPr>
        <p:spPr>
          <a:xfrm>
            <a:off x="428625" y="1610916"/>
            <a:ext cx="2571750" cy="492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>
            <a:spAutoFit/>
          </a:bodyPr>
          <a:lstStyle>
            <a:lvl1pPr algn="ctr">
              <a:lnSpc>
                <a:spcPct val="120000"/>
              </a:lnSpc>
              <a:defRPr b="1"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demo</a:t>
            </a:r>
          </a:p>
        </p:txBody>
      </p:sp>
      <p:sp>
        <p:nvSpPr>
          <p:cNvPr id="201" name="Text 5"/>
          <p:cNvSpPr txBox="1"/>
          <p:nvPr/>
        </p:nvSpPr>
        <p:spPr>
          <a:xfrm>
            <a:off x="1650999" y="2153522"/>
            <a:ext cx="127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120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02" name="Shape 6"/>
          <p:cNvSpPr/>
          <p:nvPr/>
        </p:nvSpPr>
        <p:spPr>
          <a:xfrm>
            <a:off x="428625" y="2403872"/>
            <a:ext cx="2571750" cy="50006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7"/>
          <p:cNvSpPr txBox="1"/>
          <p:nvPr/>
        </p:nvSpPr>
        <p:spPr>
          <a:xfrm>
            <a:off x="428625" y="2403872"/>
            <a:ext cx="2571750" cy="492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>
            <a:spAutoFit/>
          </a:bodyPr>
          <a:lstStyle>
            <a:lvl1pPr algn="ctr">
              <a:lnSpc>
                <a:spcPct val="120000"/>
              </a:lnSpc>
              <a:defRPr b="1"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github</a:t>
            </a:r>
          </a:p>
        </p:txBody>
      </p:sp>
      <p:sp>
        <p:nvSpPr>
          <p:cNvPr id="204" name="Text 8"/>
          <p:cNvSpPr txBox="1"/>
          <p:nvPr/>
        </p:nvSpPr>
        <p:spPr>
          <a:xfrm>
            <a:off x="1650999" y="2946478"/>
            <a:ext cx="127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0000"/>
              </a:lnSpc>
              <a:defRPr sz="1200">
                <a:solidFill>
                  <a:srgbClr val="EAB30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05" name="Shape 9"/>
          <p:cNvSpPr/>
          <p:nvPr/>
        </p:nvSpPr>
        <p:spPr>
          <a:xfrm>
            <a:off x="428625" y="3196827"/>
            <a:ext cx="2571750" cy="50006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10"/>
          <p:cNvSpPr txBox="1"/>
          <p:nvPr/>
        </p:nvSpPr>
        <p:spPr>
          <a:xfrm>
            <a:off x="428625" y="3196827"/>
            <a:ext cx="2571750" cy="492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70053" tIns="170053" rIns="170053" bIns="170053">
            <a:spAutoFit/>
          </a:bodyPr>
          <a:lstStyle>
            <a:lvl1pPr algn="ctr">
              <a:lnSpc>
                <a:spcPct val="120000"/>
              </a:lnSpc>
              <a:defRPr b="1"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INGEST</a:t>
            </a:r>
          </a:p>
        </p:txBody>
      </p:sp>
      <p:sp>
        <p:nvSpPr>
          <p:cNvPr id="207" name="Text 11"/>
          <p:cNvSpPr txBox="1"/>
          <p:nvPr/>
        </p:nvSpPr>
        <p:spPr>
          <a:xfrm>
            <a:off x="3286125" y="1294804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ENVIRONMENT</a:t>
            </a:r>
          </a:p>
        </p:txBody>
      </p:sp>
      <p:sp>
        <p:nvSpPr>
          <p:cNvPr id="208" name="Text 12"/>
          <p:cNvSpPr txBox="1"/>
          <p:nvPr/>
        </p:nvSpPr>
        <p:spPr>
          <a:xfrm>
            <a:off x="3443287" y="1630560"/>
            <a:ext cx="4063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Global:</a:t>
            </a:r>
          </a:p>
        </p:txBody>
      </p:sp>
      <p:sp>
        <p:nvSpPr>
          <p:cNvPr id="209" name="Text 13"/>
          <p:cNvSpPr txBox="1"/>
          <p:nvPr/>
        </p:nvSpPr>
        <p:spPr>
          <a:xfrm>
            <a:off x="3882628" y="1630560"/>
            <a:ext cx="21596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Set</a:t>
            </a:r>
          </a:p>
        </p:txBody>
      </p:sp>
      <p:sp>
        <p:nvSpPr>
          <p:cNvPr id="210" name="Text 14"/>
          <p:cNvSpPr txBox="1"/>
          <p:nvPr/>
        </p:nvSpPr>
        <p:spPr>
          <a:xfrm>
            <a:off x="4193380" y="1619845"/>
            <a:ext cx="146952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monospace"/>
                <a:ea typeface="monospace"/>
                <a:cs typeface="monospace"/>
                <a:sym typeface="monospace"/>
              </a:defRPr>
            </a:lvl1pPr>
          </a:lstStyle>
          <a:p>
            <a:pPr/>
            <a:r>
              <a:t>DATA_SOURCE</a:t>
            </a:r>
          </a:p>
        </p:txBody>
      </p:sp>
      <p:sp>
        <p:nvSpPr>
          <p:cNvPr id="211" name="Text 15"/>
          <p:cNvSpPr txBox="1"/>
          <p:nvPr/>
        </p:nvSpPr>
        <p:spPr>
          <a:xfrm>
            <a:off x="3286124" y="1823441"/>
            <a:ext cx="14041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env variable (demo vs github).</a:t>
            </a:r>
          </a:p>
        </p:txBody>
      </p:sp>
      <p:sp>
        <p:nvSpPr>
          <p:cNvPr id="212" name="Text 16"/>
          <p:cNvSpPr txBox="1"/>
          <p:nvPr/>
        </p:nvSpPr>
        <p:spPr>
          <a:xfrm>
            <a:off x="3443287" y="2323505"/>
            <a:ext cx="49970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Per-Deploy:</a:t>
            </a:r>
          </a:p>
        </p:txBody>
      </p:sp>
      <p:sp>
        <p:nvSpPr>
          <p:cNvPr id="213" name="Text 17"/>
          <p:cNvSpPr txBox="1"/>
          <p:nvPr/>
        </p:nvSpPr>
        <p:spPr>
          <a:xfrm>
            <a:off x="4007644" y="2323505"/>
            <a:ext cx="131498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Override DATABASE_URL and CORS_ORIGINS on</a:t>
            </a:r>
          </a:p>
        </p:txBody>
      </p:sp>
      <p:sp>
        <p:nvSpPr>
          <p:cNvPr id="214" name="Text 18"/>
          <p:cNvSpPr txBox="1"/>
          <p:nvPr/>
        </p:nvSpPr>
        <p:spPr>
          <a:xfrm>
            <a:off x="3286124" y="2516385"/>
            <a:ext cx="157528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Render for each Vercel origin and API host.</a:t>
            </a:r>
          </a:p>
        </p:txBody>
      </p:sp>
      <p:sp>
        <p:nvSpPr>
          <p:cNvPr id="215" name="Text 19"/>
          <p:cNvSpPr txBox="1"/>
          <p:nvPr/>
        </p:nvSpPr>
        <p:spPr>
          <a:xfrm>
            <a:off x="6143625" y="1294804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Keep GITHUB_ACTIONS_INGEST_TOKEN server-side only.</a:t>
            </a:r>
          </a:p>
        </p:txBody>
      </p:sp>
      <p:sp>
        <p:nvSpPr>
          <p:cNvPr id="216" name="Text 20"/>
          <p:cNvSpPr txBox="1"/>
          <p:nvPr/>
        </p:nvSpPr>
        <p:spPr>
          <a:xfrm>
            <a:off x="6300787" y="1628775"/>
            <a:ext cx="47626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DEDUPLICATION</a:t>
            </a:r>
          </a:p>
        </p:txBody>
      </p:sp>
      <p:sp>
        <p:nvSpPr>
          <p:cNvPr id="217" name="Text 21"/>
          <p:cNvSpPr txBox="1"/>
          <p:nvPr/>
        </p:nvSpPr>
        <p:spPr>
          <a:xfrm>
            <a:off x="6824067" y="1628775"/>
            <a:ext cx="14104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Scoring:</a:t>
            </a:r>
          </a:p>
        </p:txBody>
      </p:sp>
      <p:sp>
        <p:nvSpPr>
          <p:cNvPr id="218" name="Text 22"/>
          <p:cNvSpPr txBox="1"/>
          <p:nvPr/>
        </p:nvSpPr>
        <p:spPr>
          <a:xfrm>
            <a:off x="6143624" y="1821656"/>
            <a:ext cx="205877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GITHUB_CI_TOKEN enables workflow_dispatch</a:t>
            </a:r>
          </a:p>
        </p:txBody>
      </p:sp>
      <p:sp>
        <p:nvSpPr>
          <p:cNvPr id="219" name="Text 23"/>
          <p:cNvSpPr txBox="1"/>
          <p:nvPr/>
        </p:nvSpPr>
        <p:spPr>
          <a:xfrm>
            <a:off x="6300787" y="2321718"/>
            <a:ext cx="69861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from the dashboard.</a:t>
            </a:r>
          </a:p>
        </p:txBody>
      </p:sp>
      <p:sp>
        <p:nvSpPr>
          <p:cNvPr id="220" name="Text 24"/>
          <p:cNvSpPr txBox="1"/>
          <p:nvPr/>
        </p:nvSpPr>
        <p:spPr>
          <a:xfrm>
            <a:off x="7083028" y="2321718"/>
            <a:ext cx="102934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Uniqueness:</a:t>
            </a:r>
          </a:p>
        </p:txBody>
      </p:sp>
      <p:sp>
        <p:nvSpPr>
          <p:cNvPr id="221" name="Text 25"/>
          <p:cNvSpPr txBox="1"/>
          <p:nvPr/>
        </p:nvSpPr>
        <p:spPr>
          <a:xfrm>
            <a:off x="6143625" y="2514600"/>
            <a:ext cx="186153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Vercel rewrites /api to Render so the</a:t>
            </a:r>
          </a:p>
        </p:txBody>
      </p:sp>
      <p:sp>
        <p:nvSpPr>
          <p:cNvPr id="222" name="Text 26"/>
          <p:cNvSpPr txBox="1"/>
          <p:nvPr/>
        </p:nvSpPr>
        <p:spPr>
          <a:xfrm>
            <a:off x="6143624" y="2707481"/>
            <a:ext cx="52521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browser stays same-origin.</a:t>
            </a:r>
          </a:p>
        </p:txBody>
      </p:sp>
      <p:pic>
        <p:nvPicPr>
          <p:cNvPr id="223" name="Google Shape;129;p1" descr="Google Shape;129;p1"/>
          <p:cNvPicPr>
            <a:picLocks noChangeAspect="1"/>
          </p:cNvPicPr>
          <p:nvPr/>
        </p:nvPicPr>
        <p:blipFill>
          <a:blip r:embed="rId3">
            <a:extLst/>
          </a:blip>
          <a:srcRect l="10597" t="30070" r="8156" b="43047"/>
          <a:stretch>
            <a:fillRect/>
          </a:stretch>
        </p:blipFill>
        <p:spPr>
          <a:xfrm>
            <a:off x="451000" y="109934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Google Shape;130;p1"/>
          <p:cNvSpPr/>
          <p:nvPr/>
        </p:nvSpPr>
        <p:spPr>
          <a:xfrm>
            <a:off x="48706" y="4046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27" name="Google Shape;131;p1"/>
          <p:cNvGrpSpPr/>
          <p:nvPr/>
        </p:nvGrpSpPr>
        <p:grpSpPr>
          <a:xfrm>
            <a:off x="7452106" y="271276"/>
            <a:ext cx="1592200" cy="253754"/>
            <a:chOff x="0" y="0"/>
            <a:chExt cx="1592199" cy="253752"/>
          </a:xfrm>
        </p:grpSpPr>
        <p:sp>
          <p:nvSpPr>
            <p:cNvPr id="225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26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228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 0"/>
          <p:cNvSpPr txBox="1"/>
          <p:nvPr/>
        </p:nvSpPr>
        <p:spPr>
          <a:xfrm>
            <a:off x="1371600" y="-142875"/>
            <a:ext cx="7396468" cy="939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5" sz="6200">
                <a:solidFill>
                  <a:srgbClr val="2563EB">
                    <a:alpha val="10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PIPELINE PIPELINE</a:t>
            </a:r>
          </a:p>
        </p:txBody>
      </p:sp>
      <p:sp>
        <p:nvSpPr>
          <p:cNvPr id="232" name="Text 1"/>
          <p:cNvSpPr txBox="1"/>
          <p:nvPr/>
        </p:nvSpPr>
        <p:spPr>
          <a:xfrm>
            <a:off x="428625" y="428625"/>
            <a:ext cx="828675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CI/CD &amp; DASHBOARD</a:t>
            </a:r>
          </a:p>
        </p:txBody>
      </p:sp>
      <p:sp>
        <p:nvSpPr>
          <p:cNvPr id="233" name="Text 2"/>
          <p:cNvSpPr txBox="1"/>
          <p:nvPr/>
        </p:nvSpPr>
        <p:spPr>
          <a:xfrm>
            <a:off x="428625" y="1337666"/>
            <a:ext cx="36368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AUTOMATED LOOP</a:t>
            </a:r>
          </a:p>
        </p:txBody>
      </p:sp>
      <p:sp>
        <p:nvSpPr>
          <p:cNvPr id="234" name="Text 3"/>
          <p:cNvSpPr txBox="1"/>
          <p:nvPr/>
        </p:nvSpPr>
        <p:spPr>
          <a:xfrm>
            <a:off x="571499" y="1596628"/>
            <a:ext cx="277041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Dashboard triggers GitHub Actions; Playwright runs on</a:t>
            </a:r>
          </a:p>
        </p:txBody>
      </p:sp>
      <p:sp>
        <p:nvSpPr>
          <p:cNvPr id="235" name="Text 4"/>
          <p:cNvSpPr txBox="1"/>
          <p:nvPr/>
        </p:nvSpPr>
        <p:spPr>
          <a:xfrm>
            <a:off x="428625" y="1766627"/>
            <a:ext cx="148007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every workflow_dispatch or push.</a:t>
            </a:r>
          </a:p>
        </p:txBody>
      </p:sp>
      <p:sp>
        <p:nvSpPr>
          <p:cNvPr id="236" name="Text 5"/>
          <p:cNvSpPr txBox="1"/>
          <p:nvPr/>
        </p:nvSpPr>
        <p:spPr>
          <a:xfrm>
            <a:off x="428625" y="2456836"/>
            <a:ext cx="36368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EXECUTION VISIBILITY</a:t>
            </a:r>
          </a:p>
        </p:txBody>
      </p:sp>
      <p:sp>
        <p:nvSpPr>
          <p:cNvPr id="237" name="Text 6"/>
          <p:cNvSpPr txBox="1"/>
          <p:nvPr/>
        </p:nvSpPr>
        <p:spPr>
          <a:xfrm>
            <a:off x="571500" y="2715797"/>
            <a:ext cx="300682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Poll GitHub for job/step status (queued, in_progress,</a:t>
            </a:r>
          </a:p>
        </p:txBody>
      </p:sp>
      <p:sp>
        <p:nvSpPr>
          <p:cNvPr id="238" name="Text 7"/>
          <p:cNvSpPr txBox="1"/>
          <p:nvPr/>
        </p:nvSpPr>
        <p:spPr>
          <a:xfrm>
            <a:off x="428625" y="2885795"/>
            <a:ext cx="168366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completed) in the CI panel.</a:t>
            </a:r>
          </a:p>
        </p:txBody>
      </p:sp>
      <p:sp>
        <p:nvSpPr>
          <p:cNvPr id="239" name="Text 8"/>
          <p:cNvSpPr txBox="1"/>
          <p:nvPr/>
        </p:nvSpPr>
        <p:spPr>
          <a:xfrm>
            <a:off x="428625" y="3576032"/>
            <a:ext cx="363681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DASHBOARD PUBLISH</a:t>
            </a:r>
          </a:p>
        </p:txBody>
      </p:sp>
      <p:sp>
        <p:nvSpPr>
          <p:cNvPr id="240" name="Text 9"/>
          <p:cNvSpPr txBox="1"/>
          <p:nvPr/>
        </p:nvSpPr>
        <p:spPr>
          <a:xfrm>
            <a:off x="571500" y="3834993"/>
            <a:ext cx="30689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Workflow posts JSON (+ optional ZIP) to Render API;</a:t>
            </a:r>
          </a:p>
        </p:txBody>
      </p:sp>
      <p:sp>
        <p:nvSpPr>
          <p:cNvPr id="241" name="Text 10"/>
          <p:cNvSpPr txBox="1"/>
          <p:nvPr/>
        </p:nvSpPr>
        <p:spPr>
          <a:xfrm>
            <a:off x="428624" y="4004993"/>
            <a:ext cx="142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UI refreshes summary and live feed.</a:t>
            </a:r>
          </a:p>
        </p:txBody>
      </p:sp>
      <p:pic>
        <p:nvPicPr>
          <p:cNvPr id="242" name="Screenshot 2026-05-22 at 7.52.04 PM.png" descr="Screenshot 2026-05-22 at 7.52.04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6217" y="1010618"/>
            <a:ext cx="1064436" cy="3057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Screenshot 2026-05-22 at 8.22.24 PM.png" descr="Screenshot 2026-05-22 at 8.22.24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0" y="4116747"/>
            <a:ext cx="9144001" cy="7263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Google Shape;129;p1" descr="Google Shape;129;p1"/>
          <p:cNvPicPr>
            <a:picLocks noChangeAspect="1"/>
          </p:cNvPicPr>
          <p:nvPr/>
        </p:nvPicPr>
        <p:blipFill>
          <a:blip r:embed="rId5">
            <a:extLst/>
          </a:blip>
          <a:srcRect l="10597" t="30070" r="8156" b="43047"/>
          <a:stretch>
            <a:fillRect/>
          </a:stretch>
        </p:blipFill>
        <p:spPr>
          <a:xfrm>
            <a:off x="477698" y="129967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Google Shape;130;p1"/>
          <p:cNvSpPr/>
          <p:nvPr/>
        </p:nvSpPr>
        <p:spPr>
          <a:xfrm>
            <a:off x="48706" y="4173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48" name="Google Shape;131;p1"/>
          <p:cNvGrpSpPr/>
          <p:nvPr/>
        </p:nvGrpSpPr>
        <p:grpSpPr>
          <a:xfrm>
            <a:off x="7452106" y="283976"/>
            <a:ext cx="1592200" cy="253754"/>
            <a:chOff x="0" y="0"/>
            <a:chExt cx="1592199" cy="253752"/>
          </a:xfrm>
        </p:grpSpPr>
        <p:sp>
          <p:nvSpPr>
            <p:cNvPr id="246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47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249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ext 0"/>
          <p:cNvSpPr txBox="1"/>
          <p:nvPr/>
        </p:nvSpPr>
        <p:spPr>
          <a:xfrm>
            <a:off x="0" y="-71437"/>
            <a:ext cx="9286875" cy="1291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64000"/>
              </a:lnSpc>
              <a:defRPr b="1" spc="-4" sz="5200">
                <a:solidFill>
                  <a:srgbClr val="2563EB">
                    <a:alpha val="10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OBSERVABILITY OBSERVABILITY</a:t>
            </a:r>
          </a:p>
        </p:txBody>
      </p:sp>
      <p:sp>
        <p:nvSpPr>
          <p:cNvPr id="253" name="Text 1"/>
          <p:cNvSpPr txBox="1"/>
          <p:nvPr/>
        </p:nvSpPr>
        <p:spPr>
          <a:xfrm>
            <a:off x="428625" y="428625"/>
            <a:ext cx="828675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DASHBOARD VS. FORENSIC REPORTS</a:t>
            </a:r>
          </a:p>
        </p:txBody>
      </p:sp>
      <p:sp>
        <p:nvSpPr>
          <p:cNvPr id="254" name="Shape 2"/>
          <p:cNvSpPr/>
          <p:nvPr/>
        </p:nvSpPr>
        <p:spPr>
          <a:xfrm>
            <a:off x="428625" y="1223366"/>
            <a:ext cx="4364162" cy="3000376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Shape 3"/>
          <p:cNvSpPr/>
          <p:nvPr/>
        </p:nvSpPr>
        <p:spPr>
          <a:xfrm>
            <a:off x="428624" y="1223367"/>
            <a:ext cx="1309234" cy="52863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4"/>
          <p:cNvSpPr txBox="1"/>
          <p:nvPr/>
        </p:nvSpPr>
        <p:spPr>
          <a:xfrm>
            <a:off x="428624" y="1290328"/>
            <a:ext cx="1309234" cy="39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FEATURE</a:t>
            </a:r>
          </a:p>
        </p:txBody>
      </p:sp>
      <p:sp>
        <p:nvSpPr>
          <p:cNvPr id="257" name="Shape 5"/>
          <p:cNvSpPr/>
          <p:nvPr/>
        </p:nvSpPr>
        <p:spPr>
          <a:xfrm>
            <a:off x="1737856" y="1223367"/>
            <a:ext cx="1459698" cy="52863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6"/>
          <p:cNvSpPr txBox="1"/>
          <p:nvPr/>
        </p:nvSpPr>
        <p:spPr>
          <a:xfrm>
            <a:off x="1737856" y="1220477"/>
            <a:ext cx="1459698" cy="534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REAL-TIME DASHBOARD</a:t>
            </a:r>
          </a:p>
        </p:txBody>
      </p:sp>
      <p:sp>
        <p:nvSpPr>
          <p:cNvPr id="259" name="Shape 7"/>
          <p:cNvSpPr/>
          <p:nvPr/>
        </p:nvSpPr>
        <p:spPr>
          <a:xfrm>
            <a:off x="3197554" y="1223367"/>
            <a:ext cx="1595234" cy="52863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8"/>
          <p:cNvSpPr txBox="1"/>
          <p:nvPr/>
        </p:nvSpPr>
        <p:spPr>
          <a:xfrm>
            <a:off x="3197554" y="1220477"/>
            <a:ext cx="1595234" cy="534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PLAYWRIGHT HTML REPORT</a:t>
            </a:r>
          </a:p>
        </p:txBody>
      </p:sp>
      <p:sp>
        <p:nvSpPr>
          <p:cNvPr id="261" name="Text 9"/>
          <p:cNvSpPr txBox="1"/>
          <p:nvPr/>
        </p:nvSpPr>
        <p:spPr>
          <a:xfrm>
            <a:off x="428624" y="1831734"/>
            <a:ext cx="1309234" cy="382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Audience</a:t>
            </a:r>
          </a:p>
        </p:txBody>
      </p:sp>
      <p:sp>
        <p:nvSpPr>
          <p:cNvPr id="262" name="Text 10"/>
          <p:cNvSpPr txBox="1"/>
          <p:nvPr/>
        </p:nvSpPr>
        <p:spPr>
          <a:xfrm>
            <a:off x="1737856" y="1760614"/>
            <a:ext cx="1459698" cy="52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sz="8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Leadership / QA Managers</a:t>
            </a:r>
          </a:p>
        </p:txBody>
      </p:sp>
      <p:sp>
        <p:nvSpPr>
          <p:cNvPr id="263" name="Text 11"/>
          <p:cNvSpPr txBox="1"/>
          <p:nvPr/>
        </p:nvSpPr>
        <p:spPr>
          <a:xfrm>
            <a:off x="3197554" y="1831734"/>
            <a:ext cx="1595234" cy="382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sz="8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Engineers / SDETs</a:t>
            </a:r>
          </a:p>
        </p:txBody>
      </p:sp>
      <p:sp>
        <p:nvSpPr>
          <p:cNvPr id="264" name="Text 12"/>
          <p:cNvSpPr txBox="1"/>
          <p:nvPr/>
        </p:nvSpPr>
        <p:spPr>
          <a:xfrm>
            <a:off x="428624" y="2376780"/>
            <a:ext cx="1309234" cy="382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Focus</a:t>
            </a:r>
          </a:p>
        </p:txBody>
      </p:sp>
      <p:sp>
        <p:nvSpPr>
          <p:cNvPr id="265" name="Text 13"/>
          <p:cNvSpPr txBox="1"/>
          <p:nvPr/>
        </p:nvSpPr>
        <p:spPr>
          <a:xfrm>
            <a:off x="1737856" y="2305660"/>
            <a:ext cx="1459698" cy="52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sz="8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Trends, Pass/Fail, Build History, CI control</a:t>
            </a:r>
          </a:p>
        </p:txBody>
      </p:sp>
      <p:sp>
        <p:nvSpPr>
          <p:cNvPr id="266" name="Text 14"/>
          <p:cNvSpPr txBox="1"/>
          <p:nvPr/>
        </p:nvSpPr>
        <p:spPr>
          <a:xfrm>
            <a:off x="3197554" y="2376780"/>
            <a:ext cx="1595234" cy="382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sz="8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Traces, Videos, Screenshots</a:t>
            </a:r>
          </a:p>
        </p:txBody>
      </p:sp>
      <p:sp>
        <p:nvSpPr>
          <p:cNvPr id="267" name="Text 15"/>
          <p:cNvSpPr txBox="1"/>
          <p:nvPr/>
        </p:nvSpPr>
        <p:spPr>
          <a:xfrm>
            <a:off x="428624" y="2925397"/>
            <a:ext cx="1309234" cy="382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Report Detail</a:t>
            </a:r>
          </a:p>
        </p:txBody>
      </p:sp>
      <p:sp>
        <p:nvSpPr>
          <p:cNvPr id="268" name="Text 16"/>
          <p:cNvSpPr txBox="1"/>
          <p:nvPr/>
        </p:nvSpPr>
        <p:spPr>
          <a:xfrm>
            <a:off x="1737856" y="2925397"/>
            <a:ext cx="1459698" cy="382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sz="8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Run list, KPIs, embedded HTML when uploaded</a:t>
            </a:r>
          </a:p>
        </p:txBody>
      </p:sp>
      <p:sp>
        <p:nvSpPr>
          <p:cNvPr id="269" name="Text 17"/>
          <p:cNvSpPr txBox="1"/>
          <p:nvPr/>
        </p:nvSpPr>
        <p:spPr>
          <a:xfrm>
            <a:off x="3197554" y="2854277"/>
            <a:ext cx="1595234" cy="52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sz="8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All attempts, step timings, attachments</a:t>
            </a:r>
          </a:p>
        </p:txBody>
      </p:sp>
      <p:sp>
        <p:nvSpPr>
          <p:cNvPr id="270" name="Text 18"/>
          <p:cNvSpPr txBox="1"/>
          <p:nvPr/>
        </p:nvSpPr>
        <p:spPr>
          <a:xfrm>
            <a:off x="428624" y="3474014"/>
            <a:ext cx="1309234" cy="382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b="1" sz="8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Actionable Info</a:t>
            </a:r>
          </a:p>
        </p:txBody>
      </p:sp>
      <p:sp>
        <p:nvSpPr>
          <p:cNvPr id="271" name="Text 19"/>
          <p:cNvSpPr txBox="1"/>
          <p:nvPr/>
        </p:nvSpPr>
        <p:spPr>
          <a:xfrm>
            <a:off x="1737856" y="3474014"/>
            <a:ext cx="1459698" cy="382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sz="8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Portfolio health &amp; pipeline status</a:t>
            </a:r>
          </a:p>
        </p:txBody>
      </p:sp>
      <p:sp>
        <p:nvSpPr>
          <p:cNvPr id="272" name="Text 20"/>
          <p:cNvSpPr txBox="1"/>
          <p:nvPr/>
        </p:nvSpPr>
        <p:spPr>
          <a:xfrm>
            <a:off x="3197554" y="3402894"/>
            <a:ext cx="1595234" cy="52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507" tIns="127507" rIns="127507" bIns="127507" anchor="ctr">
            <a:spAutoFit/>
          </a:bodyPr>
          <a:lstStyle>
            <a:lvl1pPr>
              <a:lnSpc>
                <a:spcPct val="112000"/>
              </a:lnSpc>
              <a:defRPr sz="8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Forensic debugging of individual failures</a:t>
            </a:r>
          </a:p>
        </p:txBody>
      </p:sp>
      <p:pic>
        <p:nvPicPr>
          <p:cNvPr id="273" name="Screenshot 2026-05-22 at 8.23.29 PM.png" descr="Screenshot 2026-05-22 at 8.23.2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74254" y="1160528"/>
            <a:ext cx="3364238" cy="36207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Google Shape;129;p1" descr="Google Shape;129;p1"/>
          <p:cNvPicPr>
            <a:picLocks noChangeAspect="1"/>
          </p:cNvPicPr>
          <p:nvPr/>
        </p:nvPicPr>
        <p:blipFill>
          <a:blip r:embed="rId4">
            <a:extLst/>
          </a:blip>
          <a:srcRect l="10597" t="30070" r="8156" b="43047"/>
          <a:stretch>
            <a:fillRect/>
          </a:stretch>
        </p:blipFill>
        <p:spPr>
          <a:xfrm>
            <a:off x="457674" y="80786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Google Shape;130;p1"/>
          <p:cNvSpPr/>
          <p:nvPr/>
        </p:nvSpPr>
        <p:spPr>
          <a:xfrm>
            <a:off x="48706" y="4046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78" name="Google Shape;131;p1"/>
          <p:cNvGrpSpPr/>
          <p:nvPr/>
        </p:nvGrpSpPr>
        <p:grpSpPr>
          <a:xfrm>
            <a:off x="7452106" y="271276"/>
            <a:ext cx="1592200" cy="253754"/>
            <a:chOff x="0" y="0"/>
            <a:chExt cx="1592199" cy="253752"/>
          </a:xfrm>
        </p:grpSpPr>
        <p:sp>
          <p:nvSpPr>
            <p:cNvPr id="276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77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279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Text 0"/>
          <p:cNvSpPr txBox="1"/>
          <p:nvPr/>
        </p:nvSpPr>
        <p:spPr>
          <a:xfrm>
            <a:off x="-142876" y="-142875"/>
            <a:ext cx="6812313" cy="179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64000"/>
              </a:lnSpc>
              <a:defRPr b="1" spc="-6" sz="7200">
                <a:solidFill>
                  <a:srgbClr val="2563EB">
                    <a:alpha val="5000"/>
                  </a:srgb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GOVERNANCE ROADMAP</a:t>
            </a:r>
          </a:p>
        </p:txBody>
      </p:sp>
      <p:sp>
        <p:nvSpPr>
          <p:cNvPr id="283" name="Text 1"/>
          <p:cNvSpPr txBox="1"/>
          <p:nvPr/>
        </p:nvSpPr>
        <p:spPr>
          <a:xfrm>
            <a:off x="428625" y="428625"/>
            <a:ext cx="828675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-2" sz="33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GOVERNANCE &amp; ROADMAP</a:t>
            </a:r>
          </a:p>
        </p:txBody>
      </p:sp>
      <p:sp>
        <p:nvSpPr>
          <p:cNvPr id="284" name="Text 2"/>
          <p:cNvSpPr txBox="1"/>
          <p:nvPr/>
        </p:nvSpPr>
        <p:spPr>
          <a:xfrm>
            <a:off x="428625" y="1364455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CORE GOVERNANCE</a:t>
            </a:r>
          </a:p>
        </p:txBody>
      </p:sp>
      <p:sp>
        <p:nvSpPr>
          <p:cNvPr id="285" name="Text 3"/>
          <p:cNvSpPr txBox="1"/>
          <p:nvPr/>
        </p:nvSpPr>
        <p:spPr>
          <a:xfrm>
            <a:off x="617933" y="1805583"/>
            <a:ext cx="8573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Secrets on server:</a:t>
            </a:r>
          </a:p>
        </p:txBody>
      </p:sp>
      <p:sp>
        <p:nvSpPr>
          <p:cNvPr id="286" name="Text 4"/>
          <p:cNvSpPr txBox="1"/>
          <p:nvPr/>
        </p:nvSpPr>
        <p:spPr>
          <a:xfrm>
            <a:off x="394692" y="2030166"/>
            <a:ext cx="2453879" cy="29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Ingest token, GitHub PAT, and database URL never ship to the browser.</a:t>
            </a:r>
          </a:p>
        </p:txBody>
      </p:sp>
      <p:sp>
        <p:nvSpPr>
          <p:cNvPr id="287" name="Text 5"/>
          <p:cNvSpPr txBox="1"/>
          <p:nvPr/>
        </p:nvSpPr>
        <p:spPr>
          <a:xfrm>
            <a:off x="617933" y="2567090"/>
            <a:ext cx="98447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CORS allowlist:</a:t>
            </a:r>
          </a:p>
        </p:txBody>
      </p:sp>
      <p:sp>
        <p:nvSpPr>
          <p:cNvPr id="288" name="Text 6"/>
          <p:cNvSpPr txBox="1"/>
          <p:nvPr/>
        </p:nvSpPr>
        <p:spPr>
          <a:xfrm>
            <a:off x="428624" y="2814240"/>
            <a:ext cx="2386015" cy="29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Each Vercel origin must be listed on Render for production.</a:t>
            </a:r>
          </a:p>
        </p:txBody>
      </p:sp>
      <p:sp>
        <p:nvSpPr>
          <p:cNvPr id="289" name="Text 7"/>
          <p:cNvSpPr txBox="1"/>
          <p:nvPr/>
        </p:nvSpPr>
        <p:spPr>
          <a:xfrm>
            <a:off x="3286125" y="1364455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FUTURE ROADMAP</a:t>
            </a:r>
          </a:p>
        </p:txBody>
      </p:sp>
      <p:sp>
        <p:nvSpPr>
          <p:cNvPr id="290" name="Text 8"/>
          <p:cNvSpPr txBox="1"/>
          <p:nvPr/>
        </p:nvSpPr>
        <p:spPr>
          <a:xfrm>
            <a:off x="3475433" y="1805583"/>
            <a:ext cx="85750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Alerting:</a:t>
            </a:r>
          </a:p>
        </p:txBody>
      </p:sp>
      <p:sp>
        <p:nvSpPr>
          <p:cNvPr id="291" name="Text 9"/>
          <p:cNvSpPr txBox="1"/>
          <p:nvPr/>
        </p:nvSpPr>
        <p:spPr>
          <a:xfrm>
            <a:off x="3286124" y="2030166"/>
            <a:ext cx="2523532" cy="29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Slack/email when pass rate drops below thresholds.</a:t>
            </a:r>
          </a:p>
        </p:txBody>
      </p:sp>
      <p:sp>
        <p:nvSpPr>
          <p:cNvPr id="292" name="Text 10"/>
          <p:cNvSpPr txBox="1"/>
          <p:nvPr/>
        </p:nvSpPr>
        <p:spPr>
          <a:xfrm>
            <a:off x="3475433" y="2567090"/>
            <a:ext cx="60362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b="1" sz="900">
                <a:latin typeface="Inter SemiBold"/>
                <a:ea typeface="Inter SemiBold"/>
                <a:cs typeface="Inter SemiBold"/>
                <a:sym typeface="Inter SemiBold"/>
              </a:defRPr>
            </a:lvl1pPr>
          </a:lstStyle>
          <a:p>
            <a:pPr/>
            <a:r>
              <a:t>Multi-repo:</a:t>
            </a:r>
          </a:p>
        </p:txBody>
      </p:sp>
      <p:sp>
        <p:nvSpPr>
          <p:cNvPr id="293" name="Text 11"/>
          <p:cNvSpPr txBox="1"/>
          <p:nvPr/>
        </p:nvSpPr>
        <p:spPr>
          <a:xfrm>
            <a:off x="3289696" y="2814241"/>
            <a:ext cx="2516388" cy="296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Support several GitHub repos and RBAC per team.</a:t>
            </a:r>
          </a:p>
        </p:txBody>
      </p:sp>
      <p:sp>
        <p:nvSpPr>
          <p:cNvPr id="294" name="Text 12"/>
          <p:cNvSpPr txBox="1"/>
          <p:nvPr/>
        </p:nvSpPr>
        <p:spPr>
          <a:xfrm>
            <a:off x="6143625" y="1364455"/>
            <a:ext cx="25717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STRATEGIC VISION</a:t>
            </a:r>
          </a:p>
        </p:txBody>
      </p:sp>
      <p:sp>
        <p:nvSpPr>
          <p:cNvPr id="295" name="Text 13"/>
          <p:cNvSpPr txBox="1"/>
          <p:nvPr/>
        </p:nvSpPr>
        <p:spPr>
          <a:xfrm>
            <a:off x="6332933" y="1805583"/>
            <a:ext cx="19375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Single quality cockpit for Playwright CI</a:t>
            </a:r>
          </a:p>
        </p:txBody>
      </p:sp>
      <p:sp>
        <p:nvSpPr>
          <p:cNvPr id="296" name="Text 14"/>
          <p:cNvSpPr txBox="1"/>
          <p:nvPr/>
        </p:nvSpPr>
        <p:spPr>
          <a:xfrm>
            <a:off x="6143624" y="1985599"/>
            <a:ext cx="18235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2000"/>
              </a:lnSpc>
              <a:defRPr sz="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across the portfolio.</a:t>
            </a:r>
          </a:p>
        </p:txBody>
      </p:sp>
      <p:pic>
        <p:nvPicPr>
          <p:cNvPr id="297" name="Google Shape;129;p1" descr="Google Shape;129;p1"/>
          <p:cNvPicPr>
            <a:picLocks noChangeAspect="1"/>
          </p:cNvPicPr>
          <p:nvPr/>
        </p:nvPicPr>
        <p:blipFill>
          <a:blip r:embed="rId3">
            <a:extLst/>
          </a:blip>
          <a:srcRect l="10597" t="30070" r="8156" b="43047"/>
          <a:stretch>
            <a:fillRect/>
          </a:stretch>
        </p:blipFill>
        <p:spPr>
          <a:xfrm>
            <a:off x="437651" y="86018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Google Shape;130;p1"/>
          <p:cNvSpPr/>
          <p:nvPr/>
        </p:nvSpPr>
        <p:spPr>
          <a:xfrm>
            <a:off x="48706" y="4046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01" name="Google Shape;131;p1"/>
          <p:cNvGrpSpPr/>
          <p:nvPr/>
        </p:nvGrpSpPr>
        <p:grpSpPr>
          <a:xfrm>
            <a:off x="7452106" y="271276"/>
            <a:ext cx="1592200" cy="253754"/>
            <a:chOff x="0" y="0"/>
            <a:chExt cx="1592199" cy="253752"/>
          </a:xfrm>
        </p:grpSpPr>
        <p:sp>
          <p:nvSpPr>
            <p:cNvPr id="299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300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302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Screenshot 2026-05-22 at 9.22.49 PM.png" descr="Screenshot 2026-05-22 at 9.22.49 PM.png"/>
          <p:cNvPicPr>
            <a:picLocks noChangeAspect="1"/>
          </p:cNvPicPr>
          <p:nvPr/>
        </p:nvPicPr>
        <p:blipFill>
          <a:blip r:embed="rId2">
            <a:extLst/>
          </a:blip>
          <a:srcRect l="19269" t="0" r="29936" b="0"/>
          <a:stretch>
            <a:fillRect/>
          </a:stretch>
        </p:blipFill>
        <p:spPr>
          <a:xfrm>
            <a:off x="596559" y="663985"/>
            <a:ext cx="7950882" cy="4472372"/>
          </a:xfrm>
          <a:prstGeom prst="rect">
            <a:avLst/>
          </a:prstGeom>
          <a:ln w="12700">
            <a:miter lim="400000"/>
          </a:ln>
        </p:spPr>
      </p:pic>
      <p:sp>
        <p:nvSpPr>
          <p:cNvPr id="305" name="Text 0"/>
          <p:cNvSpPr txBox="1"/>
          <p:nvPr/>
        </p:nvSpPr>
        <p:spPr>
          <a:xfrm>
            <a:off x="788517" y="902970"/>
            <a:ext cx="9286876" cy="2582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64000"/>
              </a:lnSpc>
              <a:defRPr b="1" spc="-8" sz="103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THANK</a:t>
            </a:r>
          </a:p>
          <a:p>
            <a:pPr>
              <a:lnSpc>
                <a:spcPct val="64000"/>
              </a:lnSpc>
              <a:defRPr b="1" spc="-8" sz="10300">
                <a:solidFill>
                  <a:srgbClr val="EAB30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pPr>
            <a:r>
              <a:t>YOU</a:t>
            </a:r>
          </a:p>
        </p:txBody>
      </p:sp>
      <p:sp>
        <p:nvSpPr>
          <p:cNvPr id="306" name="Shape 2"/>
          <p:cNvSpPr/>
          <p:nvPr/>
        </p:nvSpPr>
        <p:spPr>
          <a:xfrm>
            <a:off x="774818" y="3408887"/>
            <a:ext cx="57151" cy="68580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3"/>
          <p:cNvSpPr txBox="1"/>
          <p:nvPr/>
        </p:nvSpPr>
        <p:spPr>
          <a:xfrm>
            <a:off x="924617" y="3422735"/>
            <a:ext cx="85725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QUESTIONS?</a:t>
            </a:r>
          </a:p>
        </p:txBody>
      </p:sp>
      <p:pic>
        <p:nvPicPr>
          <p:cNvPr id="308" name="Google Shape;129;p1" descr="Google Shape;129;p1"/>
          <p:cNvPicPr>
            <a:picLocks noChangeAspect="1"/>
          </p:cNvPicPr>
          <p:nvPr/>
        </p:nvPicPr>
        <p:blipFill>
          <a:blip r:embed="rId3">
            <a:extLst/>
          </a:blip>
          <a:srcRect l="10597" t="30070" r="8156" b="43047"/>
          <a:stretch>
            <a:fillRect/>
          </a:stretch>
        </p:blipFill>
        <p:spPr>
          <a:xfrm>
            <a:off x="330860" y="214275"/>
            <a:ext cx="1087818" cy="253754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Google Shape;130;p1"/>
          <p:cNvSpPr/>
          <p:nvPr/>
        </p:nvSpPr>
        <p:spPr>
          <a:xfrm>
            <a:off x="48706" y="506286"/>
            <a:ext cx="7179596" cy="1"/>
          </a:xfrm>
          <a:prstGeom prst="line">
            <a:avLst/>
          </a:prstGeom>
          <a:ln>
            <a:solidFill>
              <a:srgbClr val="C693F9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312" name="Google Shape;131;p1"/>
          <p:cNvGrpSpPr/>
          <p:nvPr/>
        </p:nvGrpSpPr>
        <p:grpSpPr>
          <a:xfrm>
            <a:off x="7452106" y="372876"/>
            <a:ext cx="1592200" cy="253754"/>
            <a:chOff x="0" y="0"/>
            <a:chExt cx="1592199" cy="253752"/>
          </a:xfrm>
        </p:grpSpPr>
        <p:sp>
          <p:nvSpPr>
            <p:cNvPr id="310" name="Rounded Rectangle"/>
            <p:cNvSpPr/>
            <p:nvPr/>
          </p:nvSpPr>
          <p:spPr>
            <a:xfrm>
              <a:off x="0" y="0"/>
              <a:ext cx="1592200" cy="25375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971D4"/>
                </a:gs>
                <a:gs pos="1000">
                  <a:srgbClr val="A971D4"/>
                </a:gs>
                <a:gs pos="23000">
                  <a:srgbClr val="666666"/>
                </a:gs>
                <a:gs pos="80000">
                  <a:srgbClr val="8A38E1"/>
                </a:gs>
                <a:gs pos="100000">
                  <a:srgbClr val="C693F9"/>
                </a:gs>
              </a:gsLst>
              <a:lin ang="1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311" name="#TheFutureWorksHere"/>
            <p:cNvSpPr txBox="1"/>
            <p:nvPr/>
          </p:nvSpPr>
          <p:spPr>
            <a:xfrm>
              <a:off x="82885" y="23939"/>
              <a:ext cx="1426428" cy="2058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#TheFutureWorksHere</a:t>
              </a:r>
            </a:p>
          </p:txBody>
        </p:sp>
      </p:grpSp>
      <p:pic>
        <p:nvPicPr>
          <p:cNvPr id="313" name="Screenshot 2026-05-22 at 9.26.42 PM.png" descr="Screenshot 2026-05-22 at 9.26.4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" y="4845699"/>
            <a:ext cx="9144001" cy="2996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Real-Time Testing Dashboard — Technical Briefing</dc:title>
  <dc:subject>QA observability dashboard for live CI and Playwright</dc:subject>
</cp:coreProperties>
</file>